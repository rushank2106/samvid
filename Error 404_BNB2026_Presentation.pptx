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1430000" cy="7962900"/>
  <p:notesSz cx="6858000" cy="9144000"/>
  <p:embeddedFontLst>
    <p:embeddedFont>
      <p:font typeface="Fraunces Bold" panose="020B0604020202020204" charset="0"/>
      <p:regular r:id="rId8"/>
    </p:embeddedFont>
    <p:embeddedFont>
      <p:font typeface="Montserrat" panose="00000500000000000000" pitchFamily="2" charset="0"/>
      <p:regular r:id="rId9"/>
    </p:embeddedFont>
    <p:embeddedFont>
      <p:font typeface="Montserrat Bold" panose="020B0604020202020204" charset="0"/>
      <p:regular r:id="rId10"/>
    </p:embeddedFont>
    <p:embeddedFont>
      <p:font typeface="Open Sans" panose="020B0606030504020204" pitchFamily="34" charset="0"/>
      <p:regular r:id="rId11"/>
    </p:embeddedFont>
    <p:embeddedFont>
      <p:font typeface="Open Sans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037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hyperlink" Target="https://github.com/Rushank2106/Samvid" TargetMode="Externa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amma.app/docs/screenshot" TargetMode="External"/><Relationship Id="rId4" Type="http://schemas.openxmlformats.org/officeDocument/2006/relationships/hyperlink" Target="https://github.com/Rushank2106/Samvi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43750" y="768096"/>
            <a:ext cx="4286250" cy="6438900"/>
            <a:chOff x="0" y="0"/>
            <a:chExt cx="5715000" cy="858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0" cy="8585200"/>
            </a:xfrm>
            <a:custGeom>
              <a:avLst/>
              <a:gdLst/>
              <a:ahLst/>
              <a:cxnLst/>
              <a:rect l="l" t="t" r="r" b="b"/>
              <a:pathLst>
                <a:path w="5715000" h="8585200">
                  <a:moveTo>
                    <a:pt x="0" y="0"/>
                  </a:moveTo>
                  <a:lnTo>
                    <a:pt x="5715000" y="0"/>
                  </a:lnTo>
                  <a:lnTo>
                    <a:pt x="5715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" r="-4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00075" y="2771423"/>
            <a:ext cx="2140173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SAMVIDA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0928" y="3404835"/>
            <a:ext cx="39576" cy="25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075" y="3404835"/>
            <a:ext cx="5349308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An AI-powered platform that helps citizens discover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0075" y="3671535"/>
            <a:ext cx="6101144" cy="491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1"/>
              </a:lnSpc>
            </a:pPr>
            <a:r>
              <a:rPr lang="en-US" sz="1599" b="1" dirty="0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government schemes they are eligible for and understand their benefits.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3920" y="4400896"/>
            <a:ext cx="6057298" cy="1654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446" spc="21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Team: </a:t>
            </a:r>
            <a:r>
              <a:rPr lang="en-US" sz="1446" spc="21">
                <a:solidFill>
                  <a:srgbClr val="438951"/>
                </a:solidFill>
                <a:latin typeface="Open Sans"/>
                <a:ea typeface="Open Sans"/>
                <a:cs typeface="Open Sans"/>
                <a:sym typeface="Open Sans"/>
              </a:rPr>
              <a:t>ERROR</a:t>
            </a:r>
            <a:r>
              <a:rPr lang="en-US" sz="1446" b="1" spc="21">
                <a:solidFill>
                  <a:srgbClr val="43895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446" spc="21">
                <a:solidFill>
                  <a:srgbClr val="438951"/>
                </a:solidFill>
                <a:latin typeface="Open Sans"/>
                <a:ea typeface="Open Sans"/>
                <a:cs typeface="Open Sans"/>
                <a:sym typeface="Open Sans"/>
              </a:rPr>
              <a:t>404</a:t>
            </a:r>
          </a:p>
          <a:p>
            <a:pPr algn="l">
              <a:lnSpc>
                <a:spcPts val="2296"/>
              </a:lnSpc>
            </a:pPr>
            <a:r>
              <a:rPr lang="en-US" sz="1446" spc="21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Members: </a:t>
            </a:r>
            <a:r>
              <a:rPr lang="en-US" sz="1446" spc="21">
                <a:solidFill>
                  <a:srgbClr val="479256"/>
                </a:solidFill>
                <a:latin typeface="Open Sans"/>
                <a:ea typeface="Open Sans"/>
                <a:cs typeface="Open Sans"/>
                <a:sym typeface="Open Sans"/>
              </a:rPr>
              <a:t>Rushank Natekar, Kashinath Chavan, Rajas Sawant, Lisma Pereira</a:t>
            </a:r>
            <a:r>
              <a:rPr lang="en-US" sz="1446" spc="21">
                <a:solidFill>
                  <a:srgbClr val="43895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2296"/>
              </a:lnSpc>
            </a:pPr>
            <a:r>
              <a:rPr lang="en-US" sz="1446" spc="21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Hackathon track: </a:t>
            </a:r>
            <a:r>
              <a:rPr lang="en-US" sz="1446" spc="21">
                <a:solidFill>
                  <a:srgbClr val="438951"/>
                </a:solidFill>
                <a:latin typeface="Open Sans"/>
                <a:ea typeface="Open Sans"/>
                <a:cs typeface="Open Sans"/>
                <a:sym typeface="Open Sans"/>
              </a:rPr>
              <a:t>JAN JEEVAN: Technology for Everyday Life &amp; Real-World Indian Challenges</a:t>
            </a:r>
          </a:p>
          <a:p>
            <a:pPr algn="l">
              <a:lnSpc>
                <a:spcPts val="1990"/>
              </a:lnSpc>
            </a:pPr>
            <a:endParaRPr lang="en-US" sz="1446" spc="21">
              <a:solidFill>
                <a:srgbClr val="4389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10023" y="1833199"/>
            <a:ext cx="4489213" cy="4480546"/>
            <a:chOff x="0" y="0"/>
            <a:chExt cx="6578600" cy="65659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578600" cy="6565900"/>
            </a:xfrm>
            <a:custGeom>
              <a:avLst/>
              <a:gdLst/>
              <a:ahLst/>
              <a:cxnLst/>
              <a:rect l="l" t="t" r="r" b="b"/>
              <a:pathLst>
                <a:path w="6578600" h="6565900">
                  <a:moveTo>
                    <a:pt x="149987" y="0"/>
                  </a:moveTo>
                  <a:cubicBezTo>
                    <a:pt x="130175" y="0"/>
                    <a:pt x="110998" y="3810"/>
                    <a:pt x="92583" y="11430"/>
                  </a:cubicBezTo>
                  <a:cubicBezTo>
                    <a:pt x="74168" y="19050"/>
                    <a:pt x="58039" y="29845"/>
                    <a:pt x="43942" y="43942"/>
                  </a:cubicBezTo>
                  <a:cubicBezTo>
                    <a:pt x="29845" y="58039"/>
                    <a:pt x="19050" y="74168"/>
                    <a:pt x="11430" y="92583"/>
                  </a:cubicBezTo>
                  <a:cubicBezTo>
                    <a:pt x="3810" y="110998"/>
                    <a:pt x="0" y="130048"/>
                    <a:pt x="0" y="149987"/>
                  </a:cubicBezTo>
                  <a:lnTo>
                    <a:pt x="0" y="6415913"/>
                  </a:lnTo>
                  <a:cubicBezTo>
                    <a:pt x="0" y="6435725"/>
                    <a:pt x="3810" y="6454902"/>
                    <a:pt x="11430" y="6473317"/>
                  </a:cubicBezTo>
                  <a:cubicBezTo>
                    <a:pt x="19050" y="6491732"/>
                    <a:pt x="29845" y="6507861"/>
                    <a:pt x="43942" y="6521958"/>
                  </a:cubicBezTo>
                  <a:cubicBezTo>
                    <a:pt x="58039" y="6536055"/>
                    <a:pt x="74295" y="6546850"/>
                    <a:pt x="92583" y="6554470"/>
                  </a:cubicBezTo>
                  <a:cubicBezTo>
                    <a:pt x="110871" y="6562090"/>
                    <a:pt x="130048" y="6565900"/>
                    <a:pt x="149987" y="6565900"/>
                  </a:cubicBezTo>
                  <a:lnTo>
                    <a:pt x="6428613" y="6565900"/>
                  </a:lnTo>
                  <a:cubicBezTo>
                    <a:pt x="6448552" y="6565900"/>
                    <a:pt x="6467602" y="6562090"/>
                    <a:pt x="6486017" y="6554470"/>
                  </a:cubicBezTo>
                  <a:cubicBezTo>
                    <a:pt x="6504432" y="6546850"/>
                    <a:pt x="6520561" y="6536055"/>
                    <a:pt x="6534658" y="6521958"/>
                  </a:cubicBezTo>
                  <a:cubicBezTo>
                    <a:pt x="6548755" y="6507861"/>
                    <a:pt x="6559550" y="6491605"/>
                    <a:pt x="6567170" y="6473317"/>
                  </a:cubicBezTo>
                  <a:cubicBezTo>
                    <a:pt x="6574790" y="6455029"/>
                    <a:pt x="6578600" y="6435852"/>
                    <a:pt x="6578600" y="6415913"/>
                  </a:cubicBezTo>
                  <a:lnTo>
                    <a:pt x="6578600" y="149987"/>
                  </a:lnTo>
                  <a:cubicBezTo>
                    <a:pt x="6578600" y="130048"/>
                    <a:pt x="6574790" y="110998"/>
                    <a:pt x="6567170" y="92583"/>
                  </a:cubicBezTo>
                  <a:cubicBezTo>
                    <a:pt x="6559550" y="74168"/>
                    <a:pt x="6548755" y="58039"/>
                    <a:pt x="6534658" y="43942"/>
                  </a:cubicBezTo>
                  <a:cubicBezTo>
                    <a:pt x="6520561" y="29845"/>
                    <a:pt x="6504432" y="19050"/>
                    <a:pt x="6486017" y="11430"/>
                  </a:cubicBezTo>
                  <a:cubicBezTo>
                    <a:pt x="6467602" y="3810"/>
                    <a:pt x="6448552" y="0"/>
                    <a:pt x="6428613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0560" y="5421816"/>
            <a:ext cx="4917443" cy="928574"/>
            <a:chOff x="0" y="0"/>
            <a:chExt cx="5060950" cy="955675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4933823" cy="828548"/>
            </a:xfrm>
            <a:custGeom>
              <a:avLst/>
              <a:gdLst/>
              <a:ahLst/>
              <a:cxnLst/>
              <a:rect l="l" t="t" r="r" b="b"/>
              <a:pathLst>
                <a:path w="4933823" h="828548">
                  <a:moveTo>
                    <a:pt x="0" y="716153"/>
                  </a:moveTo>
                  <a:lnTo>
                    <a:pt x="0" y="112522"/>
                  </a:lnTo>
                  <a:cubicBezTo>
                    <a:pt x="0" y="105156"/>
                    <a:pt x="762" y="97790"/>
                    <a:pt x="2159" y="90551"/>
                  </a:cubicBezTo>
                  <a:cubicBezTo>
                    <a:pt x="3556" y="83312"/>
                    <a:pt x="5715" y="76327"/>
                    <a:pt x="8509" y="69469"/>
                  </a:cubicBezTo>
                  <a:cubicBezTo>
                    <a:pt x="11303" y="62611"/>
                    <a:pt x="14859" y="56134"/>
                    <a:pt x="18923" y="50038"/>
                  </a:cubicBezTo>
                  <a:cubicBezTo>
                    <a:pt x="22987" y="43942"/>
                    <a:pt x="27686" y="38227"/>
                    <a:pt x="32893" y="33020"/>
                  </a:cubicBezTo>
                  <a:cubicBezTo>
                    <a:pt x="38100" y="27813"/>
                    <a:pt x="43815" y="23114"/>
                    <a:pt x="49911" y="19050"/>
                  </a:cubicBezTo>
                  <a:cubicBezTo>
                    <a:pt x="56007" y="14986"/>
                    <a:pt x="62484" y="11430"/>
                    <a:pt x="69342" y="8636"/>
                  </a:cubicBezTo>
                  <a:cubicBezTo>
                    <a:pt x="76200" y="5842"/>
                    <a:pt x="83185" y="3683"/>
                    <a:pt x="90424" y="2286"/>
                  </a:cubicBezTo>
                  <a:cubicBezTo>
                    <a:pt x="97663" y="889"/>
                    <a:pt x="105156" y="0"/>
                    <a:pt x="112522" y="0"/>
                  </a:cubicBezTo>
                  <a:lnTo>
                    <a:pt x="4821428" y="0"/>
                  </a:lnTo>
                  <a:cubicBezTo>
                    <a:pt x="4828794" y="0"/>
                    <a:pt x="4836160" y="762"/>
                    <a:pt x="4843399" y="2159"/>
                  </a:cubicBezTo>
                  <a:cubicBezTo>
                    <a:pt x="4850638" y="3556"/>
                    <a:pt x="4857623" y="5715"/>
                    <a:pt x="4864481" y="8509"/>
                  </a:cubicBezTo>
                  <a:cubicBezTo>
                    <a:pt x="4871339" y="11303"/>
                    <a:pt x="4877816" y="14859"/>
                    <a:pt x="4883912" y="18923"/>
                  </a:cubicBezTo>
                  <a:cubicBezTo>
                    <a:pt x="4890008" y="22987"/>
                    <a:pt x="4895723" y="27686"/>
                    <a:pt x="4900930" y="32893"/>
                  </a:cubicBezTo>
                  <a:cubicBezTo>
                    <a:pt x="4906137" y="38100"/>
                    <a:pt x="4910836" y="43815"/>
                    <a:pt x="4914900" y="49911"/>
                  </a:cubicBezTo>
                  <a:cubicBezTo>
                    <a:pt x="4918964" y="56007"/>
                    <a:pt x="4922520" y="62484"/>
                    <a:pt x="4925314" y="69342"/>
                  </a:cubicBezTo>
                  <a:cubicBezTo>
                    <a:pt x="4928108" y="76200"/>
                    <a:pt x="4930267" y="83185"/>
                    <a:pt x="4931664" y="90424"/>
                  </a:cubicBezTo>
                  <a:cubicBezTo>
                    <a:pt x="4933061" y="97663"/>
                    <a:pt x="4933823" y="105029"/>
                    <a:pt x="4933823" y="112395"/>
                  </a:cubicBezTo>
                  <a:lnTo>
                    <a:pt x="4933823" y="716153"/>
                  </a:lnTo>
                  <a:cubicBezTo>
                    <a:pt x="4933823" y="723519"/>
                    <a:pt x="4933061" y="730885"/>
                    <a:pt x="4931664" y="738124"/>
                  </a:cubicBezTo>
                  <a:cubicBezTo>
                    <a:pt x="4930267" y="745363"/>
                    <a:pt x="4928108" y="752348"/>
                    <a:pt x="4925314" y="759206"/>
                  </a:cubicBezTo>
                  <a:cubicBezTo>
                    <a:pt x="4922520" y="766064"/>
                    <a:pt x="4918964" y="772541"/>
                    <a:pt x="4914900" y="778637"/>
                  </a:cubicBezTo>
                  <a:cubicBezTo>
                    <a:pt x="4910836" y="784733"/>
                    <a:pt x="4906137" y="790448"/>
                    <a:pt x="4900930" y="795655"/>
                  </a:cubicBezTo>
                  <a:cubicBezTo>
                    <a:pt x="4895723" y="800862"/>
                    <a:pt x="4890008" y="805561"/>
                    <a:pt x="4883912" y="809625"/>
                  </a:cubicBezTo>
                  <a:cubicBezTo>
                    <a:pt x="4877816" y="813689"/>
                    <a:pt x="4871339" y="817245"/>
                    <a:pt x="4864481" y="820039"/>
                  </a:cubicBezTo>
                  <a:cubicBezTo>
                    <a:pt x="4857623" y="822833"/>
                    <a:pt x="4850638" y="824992"/>
                    <a:pt x="4843399" y="826389"/>
                  </a:cubicBezTo>
                  <a:cubicBezTo>
                    <a:pt x="4836160" y="827786"/>
                    <a:pt x="4828794" y="828548"/>
                    <a:pt x="4821428" y="828548"/>
                  </a:cubicBezTo>
                  <a:lnTo>
                    <a:pt x="112522" y="828548"/>
                  </a:lnTo>
                  <a:cubicBezTo>
                    <a:pt x="105156" y="828548"/>
                    <a:pt x="97790" y="827786"/>
                    <a:pt x="90551" y="826389"/>
                  </a:cubicBezTo>
                  <a:cubicBezTo>
                    <a:pt x="83312" y="824992"/>
                    <a:pt x="76327" y="822833"/>
                    <a:pt x="69469" y="820039"/>
                  </a:cubicBezTo>
                  <a:cubicBezTo>
                    <a:pt x="62611" y="817245"/>
                    <a:pt x="56134" y="813689"/>
                    <a:pt x="50038" y="809625"/>
                  </a:cubicBezTo>
                  <a:cubicBezTo>
                    <a:pt x="43942" y="805561"/>
                    <a:pt x="38227" y="800862"/>
                    <a:pt x="33020" y="795655"/>
                  </a:cubicBezTo>
                  <a:cubicBezTo>
                    <a:pt x="27813" y="790448"/>
                    <a:pt x="23114" y="784733"/>
                    <a:pt x="19050" y="778637"/>
                  </a:cubicBezTo>
                  <a:cubicBezTo>
                    <a:pt x="14986" y="772541"/>
                    <a:pt x="11430" y="766064"/>
                    <a:pt x="8636" y="759206"/>
                  </a:cubicBezTo>
                  <a:cubicBezTo>
                    <a:pt x="5842" y="752348"/>
                    <a:pt x="3683" y="745363"/>
                    <a:pt x="2286" y="738124"/>
                  </a:cubicBezTo>
                  <a:cubicBezTo>
                    <a:pt x="889" y="730885"/>
                    <a:pt x="0" y="723519"/>
                    <a:pt x="0" y="716153"/>
                  </a:cubicBezTo>
                  <a:close/>
                </a:path>
              </a:pathLst>
            </a:custGeom>
            <a:solidFill>
              <a:srgbClr val="DDEEE0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243967" y="291846"/>
              <a:ext cx="131318" cy="131445"/>
            </a:xfrm>
            <a:custGeom>
              <a:avLst/>
              <a:gdLst/>
              <a:ahLst/>
              <a:cxnLst/>
              <a:rect l="l" t="t" r="r" b="b"/>
              <a:pathLst>
                <a:path w="131318" h="131445">
                  <a:moveTo>
                    <a:pt x="18796" y="14224"/>
                  </a:moveTo>
                  <a:cubicBezTo>
                    <a:pt x="16256" y="14224"/>
                    <a:pt x="14097" y="16383"/>
                    <a:pt x="14097" y="18923"/>
                  </a:cubicBezTo>
                  <a:lnTo>
                    <a:pt x="14097" y="112649"/>
                  </a:lnTo>
                  <a:cubicBezTo>
                    <a:pt x="14097" y="115189"/>
                    <a:pt x="16256" y="117348"/>
                    <a:pt x="18796" y="117348"/>
                  </a:cubicBezTo>
                  <a:lnTo>
                    <a:pt x="84455" y="117348"/>
                  </a:lnTo>
                  <a:lnTo>
                    <a:pt x="84455" y="93853"/>
                  </a:lnTo>
                  <a:cubicBezTo>
                    <a:pt x="84455" y="88646"/>
                    <a:pt x="88646" y="84455"/>
                    <a:pt x="93853" y="84455"/>
                  </a:cubicBezTo>
                  <a:lnTo>
                    <a:pt x="117348" y="84455"/>
                  </a:lnTo>
                  <a:lnTo>
                    <a:pt x="117348" y="18796"/>
                  </a:lnTo>
                  <a:cubicBezTo>
                    <a:pt x="117348" y="16256"/>
                    <a:pt x="115189" y="14097"/>
                    <a:pt x="112649" y="14097"/>
                  </a:cubicBezTo>
                  <a:lnTo>
                    <a:pt x="18796" y="14097"/>
                  </a:lnTo>
                  <a:close/>
                  <a:moveTo>
                    <a:pt x="84455" y="131318"/>
                  </a:moveTo>
                  <a:lnTo>
                    <a:pt x="18796" y="131318"/>
                  </a:lnTo>
                  <a:cubicBezTo>
                    <a:pt x="8509" y="131318"/>
                    <a:pt x="0" y="122936"/>
                    <a:pt x="0" y="112522"/>
                  </a:cubicBezTo>
                  <a:lnTo>
                    <a:pt x="0" y="18796"/>
                  </a:lnTo>
                  <a:cubicBezTo>
                    <a:pt x="0" y="8509"/>
                    <a:pt x="8382" y="0"/>
                    <a:pt x="18796" y="0"/>
                  </a:cubicBezTo>
                  <a:lnTo>
                    <a:pt x="112522" y="0"/>
                  </a:lnTo>
                  <a:cubicBezTo>
                    <a:pt x="122809" y="0"/>
                    <a:pt x="131318" y="8382"/>
                    <a:pt x="131318" y="18796"/>
                  </a:cubicBezTo>
                  <a:lnTo>
                    <a:pt x="131318" y="84455"/>
                  </a:lnTo>
                  <a:lnTo>
                    <a:pt x="131318" y="86106"/>
                  </a:lnTo>
                  <a:cubicBezTo>
                    <a:pt x="131318" y="91059"/>
                    <a:pt x="129413" y="95885"/>
                    <a:pt x="125857" y="99441"/>
                  </a:cubicBezTo>
                  <a:lnTo>
                    <a:pt x="99314" y="125984"/>
                  </a:lnTo>
                  <a:cubicBezTo>
                    <a:pt x="95758" y="129540"/>
                    <a:pt x="91059" y="131445"/>
                    <a:pt x="85979" y="131445"/>
                  </a:cubicBezTo>
                  <a:lnTo>
                    <a:pt x="84328" y="131445"/>
                  </a:lnTo>
                  <a:close/>
                </a:path>
              </a:pathLst>
            </a:custGeom>
            <a:solidFill>
              <a:srgbClr val="32673D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600074" y="1109283"/>
            <a:ext cx="4330889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Problem Statement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9490" y="5649918"/>
            <a:ext cx="3791474" cy="475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181" spc="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Clear, accessible discovery is essential to close gaps between policy and public benefit uptake.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0075" y="1804624"/>
            <a:ext cx="5366299" cy="92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316" b="1" spc="27">
                <a:solidFill>
                  <a:srgbClr val="40544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</a:t>
            </a:r>
            <a:r>
              <a:rPr lang="en-US" sz="1316" spc="27">
                <a:solidFill>
                  <a:srgbClr val="405449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r>
              <a:rPr lang="en-US" sz="1316" b="1" spc="27">
                <a:solidFill>
                  <a:srgbClr val="40544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Affected users </a:t>
            </a:r>
            <a:r>
              <a:rPr lang="en-US" sz="1316" spc="27">
                <a:solidFill>
                  <a:srgbClr val="405449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r>
              <a:rPr lang="en-US" sz="1316" b="1" spc="27">
                <a:solidFill>
                  <a:srgbClr val="40544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Consequence — Citizens (especially students, rural and low‑income households) face fragmentation and complexity, which leads to missed benefits and reduced access to welfare.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0560" y="2982056"/>
            <a:ext cx="4452737" cy="219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indent="-129540" algn="l">
              <a:lnSpc>
                <a:spcPts val="1942"/>
              </a:lnSpc>
              <a:buFont typeface="Arial"/>
              <a:buChar char="•"/>
            </a:pPr>
            <a:r>
              <a:rPr lang="en-US" sz="1200" spc="18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Citizens struggle to discover relevant government welfare schemes.</a:t>
            </a:r>
          </a:p>
          <a:p>
            <a:pPr marL="259080" lvl="1" indent="-129540" algn="l">
              <a:lnSpc>
                <a:spcPts val="1942"/>
              </a:lnSpc>
              <a:spcBef>
                <a:spcPts val="171"/>
              </a:spcBef>
              <a:buFont typeface="Arial"/>
              <a:buChar char="•"/>
            </a:pPr>
            <a:r>
              <a:rPr lang="en-US" sz="1200" spc="18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Eligibility conditions are written in complex legal or administrative language that ordinary users find difficult to interpret.</a:t>
            </a:r>
          </a:p>
          <a:p>
            <a:pPr marL="259080" lvl="1" indent="-129540" algn="l">
              <a:lnSpc>
                <a:spcPts val="1942"/>
              </a:lnSpc>
              <a:spcBef>
                <a:spcPts val="171"/>
              </a:spcBef>
              <a:buFont typeface="Arial"/>
              <a:buChar char="•"/>
            </a:pPr>
            <a:r>
              <a:rPr lang="en-US" sz="1200" spc="18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Information is fragmented across multiple portals, PDFs and local offices.</a:t>
            </a:r>
          </a:p>
          <a:p>
            <a:pPr marL="259080" lvl="1" indent="-129540" algn="l">
              <a:lnSpc>
                <a:spcPts val="1942"/>
              </a:lnSpc>
              <a:spcBef>
                <a:spcPts val="171"/>
              </a:spcBef>
              <a:buFont typeface="Arial"/>
              <a:buChar char="•"/>
            </a:pPr>
            <a:r>
              <a:rPr lang="en-US" sz="1200" spc="18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Eligible citizens often miss benefits because they cannot determine which schemes apply to their situation.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1556997" cy="8099422"/>
            <a:chOff x="0" y="0"/>
            <a:chExt cx="11557000" cy="809942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1430000" cy="7972425"/>
            </a:xfrm>
            <a:custGeom>
              <a:avLst/>
              <a:gdLst/>
              <a:ahLst/>
              <a:cxnLst/>
              <a:rect l="l" t="t" r="r" b="b"/>
              <a:pathLst>
                <a:path w="11430000" h="7972425">
                  <a:moveTo>
                    <a:pt x="0" y="0"/>
                  </a:moveTo>
                  <a:lnTo>
                    <a:pt x="11430000" y="0"/>
                  </a:lnTo>
                  <a:lnTo>
                    <a:pt x="11430000" y="7972425"/>
                  </a:lnTo>
                  <a:lnTo>
                    <a:pt x="0" y="79724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8326" y="68326"/>
              <a:ext cx="11420348" cy="7962900"/>
            </a:xfrm>
            <a:custGeom>
              <a:avLst/>
              <a:gdLst/>
              <a:ahLst/>
              <a:cxnLst/>
              <a:rect l="l" t="t" r="r" b="b"/>
              <a:pathLst>
                <a:path w="11420348" h="7962900">
                  <a:moveTo>
                    <a:pt x="0" y="0"/>
                  </a:moveTo>
                  <a:lnTo>
                    <a:pt x="0" y="7962900"/>
                  </a:lnTo>
                  <a:lnTo>
                    <a:pt x="11420348" y="7962900"/>
                  </a:lnTo>
                  <a:lnTo>
                    <a:pt x="11420348" y="0"/>
                  </a:lnTo>
                  <a:close/>
                </a:path>
              </a:pathLst>
            </a:custGeom>
            <a:solidFill>
              <a:srgbClr val="DEEEE1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1430000" cy="7972425"/>
            </a:xfrm>
            <a:custGeom>
              <a:avLst/>
              <a:gdLst/>
              <a:ahLst/>
              <a:cxnLst/>
              <a:rect l="l" t="t" r="r" b="b"/>
              <a:pathLst>
                <a:path w="11430000" h="7972425">
                  <a:moveTo>
                    <a:pt x="0" y="0"/>
                  </a:moveTo>
                  <a:lnTo>
                    <a:pt x="11430000" y="0"/>
                  </a:lnTo>
                  <a:lnTo>
                    <a:pt x="11430000" y="7972425"/>
                  </a:lnTo>
                  <a:lnTo>
                    <a:pt x="0" y="7972425"/>
                  </a:lnTo>
                  <a:close/>
                </a:path>
              </a:pathLst>
            </a:custGeom>
            <a:solidFill>
              <a:srgbClr val="FAFFFA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896874" y="5020056"/>
              <a:ext cx="9755124" cy="956818"/>
            </a:xfrm>
            <a:custGeom>
              <a:avLst/>
              <a:gdLst/>
              <a:ahLst/>
              <a:cxnLst/>
              <a:rect l="l" t="t" r="r" b="b"/>
              <a:pathLst>
                <a:path w="9755124" h="956818">
                  <a:moveTo>
                    <a:pt x="9755124" y="478409"/>
                  </a:moveTo>
                  <a:lnTo>
                    <a:pt x="9267063" y="956818"/>
                  </a:lnTo>
                  <a:lnTo>
                    <a:pt x="9267063" y="838835"/>
                  </a:lnTo>
                  <a:lnTo>
                    <a:pt x="0" y="838835"/>
                  </a:lnTo>
                  <a:lnTo>
                    <a:pt x="0" y="122809"/>
                  </a:lnTo>
                  <a:lnTo>
                    <a:pt x="9267063" y="122809"/>
                  </a:lnTo>
                  <a:lnTo>
                    <a:pt x="9267063" y="0"/>
                  </a:lnTo>
                  <a:lnTo>
                    <a:pt x="9755124" y="478409"/>
                  </a:lnTo>
                  <a:close/>
                </a:path>
              </a:pathLst>
            </a:custGeom>
            <a:solidFill>
              <a:srgbClr val="58AD69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896874" y="4010406"/>
              <a:ext cx="8834374" cy="956818"/>
            </a:xfrm>
            <a:custGeom>
              <a:avLst/>
              <a:gdLst/>
              <a:ahLst/>
              <a:cxnLst/>
              <a:rect l="l" t="t" r="r" b="b"/>
              <a:pathLst>
                <a:path w="8834374" h="956818">
                  <a:moveTo>
                    <a:pt x="8834374" y="478409"/>
                  </a:moveTo>
                  <a:lnTo>
                    <a:pt x="8346313" y="956818"/>
                  </a:lnTo>
                  <a:lnTo>
                    <a:pt x="8346313" y="835787"/>
                  </a:lnTo>
                  <a:lnTo>
                    <a:pt x="0" y="835787"/>
                  </a:lnTo>
                  <a:lnTo>
                    <a:pt x="0" y="119761"/>
                  </a:lnTo>
                  <a:lnTo>
                    <a:pt x="8346313" y="119761"/>
                  </a:lnTo>
                  <a:lnTo>
                    <a:pt x="8346313" y="0"/>
                  </a:lnTo>
                  <a:lnTo>
                    <a:pt x="8834374" y="478409"/>
                  </a:lnTo>
                  <a:close/>
                </a:path>
              </a:pathLst>
            </a:custGeom>
            <a:solidFill>
              <a:srgbClr val="479256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896874" y="3002407"/>
              <a:ext cx="8016113" cy="956818"/>
            </a:xfrm>
            <a:custGeom>
              <a:avLst/>
              <a:gdLst/>
              <a:ahLst/>
              <a:cxnLst/>
              <a:rect l="l" t="t" r="r" b="b"/>
              <a:pathLst>
                <a:path w="8016113" h="956818">
                  <a:moveTo>
                    <a:pt x="8016113" y="478409"/>
                  </a:moveTo>
                  <a:lnTo>
                    <a:pt x="7528052" y="956818"/>
                  </a:lnTo>
                  <a:lnTo>
                    <a:pt x="7528052" y="838835"/>
                  </a:lnTo>
                  <a:lnTo>
                    <a:pt x="0" y="838835"/>
                  </a:lnTo>
                  <a:lnTo>
                    <a:pt x="0" y="122809"/>
                  </a:lnTo>
                  <a:lnTo>
                    <a:pt x="7527925" y="122809"/>
                  </a:lnTo>
                  <a:lnTo>
                    <a:pt x="7527925" y="0"/>
                  </a:lnTo>
                  <a:lnTo>
                    <a:pt x="8015986" y="478409"/>
                  </a:lnTo>
                  <a:close/>
                </a:path>
              </a:pathLst>
            </a:custGeom>
            <a:solidFill>
              <a:srgbClr val="397444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896874" y="1992122"/>
              <a:ext cx="7187438" cy="956818"/>
            </a:xfrm>
            <a:custGeom>
              <a:avLst/>
              <a:gdLst/>
              <a:ahLst/>
              <a:cxnLst/>
              <a:rect l="l" t="t" r="r" b="b"/>
              <a:pathLst>
                <a:path w="7187438" h="956818">
                  <a:moveTo>
                    <a:pt x="7187438" y="478409"/>
                  </a:moveTo>
                  <a:lnTo>
                    <a:pt x="6699377" y="956818"/>
                  </a:lnTo>
                  <a:lnTo>
                    <a:pt x="6699377" y="836422"/>
                  </a:lnTo>
                  <a:lnTo>
                    <a:pt x="0" y="836422"/>
                  </a:lnTo>
                  <a:lnTo>
                    <a:pt x="0" y="120396"/>
                  </a:lnTo>
                  <a:lnTo>
                    <a:pt x="6699377" y="120396"/>
                  </a:lnTo>
                  <a:lnTo>
                    <a:pt x="6699377" y="0"/>
                  </a:lnTo>
                  <a:lnTo>
                    <a:pt x="7187438" y="478409"/>
                  </a:lnTo>
                  <a:close/>
                </a:path>
              </a:pathLst>
            </a:custGeom>
            <a:solidFill>
              <a:srgbClr val="2A5633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600075" y="6276975"/>
            <a:ext cx="723900" cy="723900"/>
            <a:chOff x="0" y="0"/>
            <a:chExt cx="965200" cy="965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149987" y="0"/>
                  </a:moveTo>
                  <a:cubicBezTo>
                    <a:pt x="130175" y="0"/>
                    <a:pt x="110998" y="3810"/>
                    <a:pt x="92583" y="11430"/>
                  </a:cubicBezTo>
                  <a:cubicBezTo>
                    <a:pt x="74168" y="19050"/>
                    <a:pt x="58039" y="29845"/>
                    <a:pt x="43942" y="43942"/>
                  </a:cubicBezTo>
                  <a:cubicBezTo>
                    <a:pt x="29845" y="58039"/>
                    <a:pt x="19050" y="74168"/>
                    <a:pt x="11430" y="92583"/>
                  </a:cubicBezTo>
                  <a:cubicBezTo>
                    <a:pt x="3810" y="110998"/>
                    <a:pt x="0" y="130048"/>
                    <a:pt x="0" y="149987"/>
                  </a:cubicBezTo>
                  <a:lnTo>
                    <a:pt x="0" y="815213"/>
                  </a:lnTo>
                  <a:cubicBezTo>
                    <a:pt x="0" y="835152"/>
                    <a:pt x="3810" y="854202"/>
                    <a:pt x="11430" y="872617"/>
                  </a:cubicBezTo>
                  <a:cubicBezTo>
                    <a:pt x="19050" y="891032"/>
                    <a:pt x="29845" y="907161"/>
                    <a:pt x="43942" y="921258"/>
                  </a:cubicBezTo>
                  <a:cubicBezTo>
                    <a:pt x="58039" y="935355"/>
                    <a:pt x="74168" y="946150"/>
                    <a:pt x="92583" y="953770"/>
                  </a:cubicBezTo>
                  <a:cubicBezTo>
                    <a:pt x="110998" y="961390"/>
                    <a:pt x="130048" y="965200"/>
                    <a:pt x="149987" y="965200"/>
                  </a:cubicBezTo>
                  <a:lnTo>
                    <a:pt x="815213" y="965200"/>
                  </a:lnTo>
                  <a:cubicBezTo>
                    <a:pt x="835152" y="965200"/>
                    <a:pt x="854202" y="961390"/>
                    <a:pt x="872617" y="953770"/>
                  </a:cubicBezTo>
                  <a:cubicBezTo>
                    <a:pt x="891032" y="946150"/>
                    <a:pt x="907161" y="935355"/>
                    <a:pt x="921258" y="921258"/>
                  </a:cubicBezTo>
                  <a:cubicBezTo>
                    <a:pt x="935355" y="907161"/>
                    <a:pt x="946150" y="890905"/>
                    <a:pt x="953770" y="872617"/>
                  </a:cubicBezTo>
                  <a:cubicBezTo>
                    <a:pt x="961390" y="854329"/>
                    <a:pt x="965200" y="835152"/>
                    <a:pt x="965200" y="815213"/>
                  </a:cubicBezTo>
                  <a:lnTo>
                    <a:pt x="965200" y="149987"/>
                  </a:lnTo>
                  <a:cubicBezTo>
                    <a:pt x="965200" y="130048"/>
                    <a:pt x="961390" y="110998"/>
                    <a:pt x="953770" y="92583"/>
                  </a:cubicBezTo>
                  <a:cubicBezTo>
                    <a:pt x="946150" y="74168"/>
                    <a:pt x="935355" y="58039"/>
                    <a:pt x="921258" y="43942"/>
                  </a:cubicBezTo>
                  <a:cubicBezTo>
                    <a:pt x="907161" y="29845"/>
                    <a:pt x="891032" y="19050"/>
                    <a:pt x="872617" y="11430"/>
                  </a:cubicBezTo>
                  <a:cubicBezTo>
                    <a:pt x="854202" y="3810"/>
                    <a:pt x="835025" y="0"/>
                    <a:pt x="815213" y="0"/>
                  </a:cubicBezTo>
                  <a:close/>
                </a:path>
              </a:pathLst>
            </a:custGeom>
            <a:blipFill>
              <a:blip r:embed="rId2"/>
              <a:stretch>
                <a:fillRect l="-168" t="-82" r="-11" b="-10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4076700" y="6276975"/>
            <a:ext cx="714375" cy="723900"/>
            <a:chOff x="0" y="0"/>
            <a:chExt cx="952500" cy="965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52500" cy="965200"/>
            </a:xfrm>
            <a:custGeom>
              <a:avLst/>
              <a:gdLst/>
              <a:ahLst/>
              <a:cxnLst/>
              <a:rect l="l" t="t" r="r" b="b"/>
              <a:pathLst>
                <a:path w="952500" h="965200">
                  <a:moveTo>
                    <a:pt x="149987" y="0"/>
                  </a:moveTo>
                  <a:cubicBezTo>
                    <a:pt x="130175" y="0"/>
                    <a:pt x="110998" y="3810"/>
                    <a:pt x="92583" y="11430"/>
                  </a:cubicBezTo>
                  <a:cubicBezTo>
                    <a:pt x="74168" y="19050"/>
                    <a:pt x="58039" y="29845"/>
                    <a:pt x="43942" y="43942"/>
                  </a:cubicBezTo>
                  <a:cubicBezTo>
                    <a:pt x="29845" y="58039"/>
                    <a:pt x="19050" y="74168"/>
                    <a:pt x="11430" y="92583"/>
                  </a:cubicBezTo>
                  <a:cubicBezTo>
                    <a:pt x="3810" y="110998"/>
                    <a:pt x="0" y="130048"/>
                    <a:pt x="0" y="149860"/>
                  </a:cubicBezTo>
                  <a:lnTo>
                    <a:pt x="0" y="815213"/>
                  </a:lnTo>
                  <a:cubicBezTo>
                    <a:pt x="0" y="835152"/>
                    <a:pt x="3810" y="854202"/>
                    <a:pt x="11430" y="872617"/>
                  </a:cubicBezTo>
                  <a:cubicBezTo>
                    <a:pt x="19050" y="891032"/>
                    <a:pt x="29845" y="907161"/>
                    <a:pt x="43942" y="921258"/>
                  </a:cubicBezTo>
                  <a:cubicBezTo>
                    <a:pt x="58039" y="935355"/>
                    <a:pt x="74168" y="946150"/>
                    <a:pt x="92583" y="953770"/>
                  </a:cubicBezTo>
                  <a:cubicBezTo>
                    <a:pt x="110998" y="961390"/>
                    <a:pt x="130048" y="965200"/>
                    <a:pt x="149987" y="965200"/>
                  </a:cubicBezTo>
                  <a:lnTo>
                    <a:pt x="802513" y="965200"/>
                  </a:lnTo>
                  <a:cubicBezTo>
                    <a:pt x="822452" y="965200"/>
                    <a:pt x="841502" y="961390"/>
                    <a:pt x="859917" y="953770"/>
                  </a:cubicBezTo>
                  <a:cubicBezTo>
                    <a:pt x="878332" y="946150"/>
                    <a:pt x="894461" y="935355"/>
                    <a:pt x="908558" y="921258"/>
                  </a:cubicBezTo>
                  <a:cubicBezTo>
                    <a:pt x="922655" y="907161"/>
                    <a:pt x="933450" y="890905"/>
                    <a:pt x="941070" y="872617"/>
                  </a:cubicBezTo>
                  <a:cubicBezTo>
                    <a:pt x="948690" y="854329"/>
                    <a:pt x="952500" y="835152"/>
                    <a:pt x="952500" y="815213"/>
                  </a:cubicBezTo>
                  <a:lnTo>
                    <a:pt x="952500" y="149987"/>
                  </a:lnTo>
                  <a:cubicBezTo>
                    <a:pt x="952500" y="130048"/>
                    <a:pt x="948690" y="110998"/>
                    <a:pt x="941070" y="92583"/>
                  </a:cubicBezTo>
                  <a:cubicBezTo>
                    <a:pt x="933450" y="74168"/>
                    <a:pt x="922655" y="58039"/>
                    <a:pt x="908558" y="43942"/>
                  </a:cubicBezTo>
                  <a:cubicBezTo>
                    <a:pt x="894461" y="29845"/>
                    <a:pt x="878332" y="19050"/>
                    <a:pt x="859917" y="11430"/>
                  </a:cubicBezTo>
                  <a:cubicBezTo>
                    <a:pt x="841502" y="3810"/>
                    <a:pt x="822325" y="0"/>
                    <a:pt x="802513" y="0"/>
                  </a:cubicBezTo>
                  <a:close/>
                </a:path>
              </a:pathLst>
            </a:custGeom>
            <a:blipFill>
              <a:blip r:embed="rId3"/>
              <a:stretch>
                <a:fillRect l="-168" t="-82" r="-12" b="-102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7543800" y="6276975"/>
            <a:ext cx="723900" cy="723900"/>
            <a:chOff x="0" y="0"/>
            <a:chExt cx="965200" cy="965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149987" y="0"/>
                  </a:moveTo>
                  <a:cubicBezTo>
                    <a:pt x="130175" y="0"/>
                    <a:pt x="110998" y="3810"/>
                    <a:pt x="92583" y="11430"/>
                  </a:cubicBezTo>
                  <a:cubicBezTo>
                    <a:pt x="74168" y="19050"/>
                    <a:pt x="58039" y="29845"/>
                    <a:pt x="43942" y="43942"/>
                  </a:cubicBezTo>
                  <a:cubicBezTo>
                    <a:pt x="29845" y="58039"/>
                    <a:pt x="19050" y="74168"/>
                    <a:pt x="11430" y="92583"/>
                  </a:cubicBezTo>
                  <a:cubicBezTo>
                    <a:pt x="3810" y="110998"/>
                    <a:pt x="0" y="130048"/>
                    <a:pt x="0" y="149860"/>
                  </a:cubicBezTo>
                  <a:lnTo>
                    <a:pt x="0" y="815213"/>
                  </a:lnTo>
                  <a:cubicBezTo>
                    <a:pt x="0" y="835152"/>
                    <a:pt x="3810" y="854202"/>
                    <a:pt x="11430" y="872617"/>
                  </a:cubicBezTo>
                  <a:cubicBezTo>
                    <a:pt x="19050" y="891032"/>
                    <a:pt x="29845" y="907161"/>
                    <a:pt x="43942" y="921258"/>
                  </a:cubicBezTo>
                  <a:cubicBezTo>
                    <a:pt x="58039" y="935355"/>
                    <a:pt x="74168" y="946150"/>
                    <a:pt x="92583" y="953770"/>
                  </a:cubicBezTo>
                  <a:cubicBezTo>
                    <a:pt x="110998" y="961390"/>
                    <a:pt x="130048" y="965200"/>
                    <a:pt x="149987" y="965200"/>
                  </a:cubicBezTo>
                  <a:lnTo>
                    <a:pt x="815213" y="965200"/>
                  </a:lnTo>
                  <a:cubicBezTo>
                    <a:pt x="835152" y="965200"/>
                    <a:pt x="854202" y="961390"/>
                    <a:pt x="872617" y="953770"/>
                  </a:cubicBezTo>
                  <a:cubicBezTo>
                    <a:pt x="891032" y="946150"/>
                    <a:pt x="907161" y="935355"/>
                    <a:pt x="921258" y="921258"/>
                  </a:cubicBezTo>
                  <a:cubicBezTo>
                    <a:pt x="935355" y="907161"/>
                    <a:pt x="946150" y="890905"/>
                    <a:pt x="953770" y="872617"/>
                  </a:cubicBezTo>
                  <a:cubicBezTo>
                    <a:pt x="961390" y="854329"/>
                    <a:pt x="965200" y="835152"/>
                    <a:pt x="965200" y="815213"/>
                  </a:cubicBezTo>
                  <a:lnTo>
                    <a:pt x="965200" y="149987"/>
                  </a:lnTo>
                  <a:cubicBezTo>
                    <a:pt x="965200" y="130048"/>
                    <a:pt x="961390" y="110998"/>
                    <a:pt x="953770" y="92583"/>
                  </a:cubicBezTo>
                  <a:cubicBezTo>
                    <a:pt x="946150" y="74168"/>
                    <a:pt x="935355" y="58039"/>
                    <a:pt x="921258" y="43942"/>
                  </a:cubicBezTo>
                  <a:cubicBezTo>
                    <a:pt x="907161" y="29845"/>
                    <a:pt x="891032" y="19050"/>
                    <a:pt x="872617" y="11430"/>
                  </a:cubicBezTo>
                  <a:cubicBezTo>
                    <a:pt x="854202" y="3810"/>
                    <a:pt x="835025" y="0"/>
                    <a:pt x="815213" y="0"/>
                  </a:cubicBezTo>
                  <a:close/>
                </a:path>
              </a:pathLst>
            </a:custGeom>
            <a:blipFill>
              <a:blip r:embed="rId4"/>
              <a:stretch>
                <a:fillRect l="-168" t="-82" r="-11" b="-102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600075" y="605399"/>
            <a:ext cx="4733621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Solution - SAMVIDA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10160" y="6596624"/>
            <a:ext cx="2320033" cy="70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9"/>
              </a:lnSpc>
            </a:pPr>
            <a:r>
              <a:rPr lang="en-US" sz="1181" spc="17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Users enter basic profile details and receive tailored scheme matches.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82613" y="6834749"/>
            <a:ext cx="2199799" cy="691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81" spc="17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Automated matching against eligibility rules to surface relevant schemes.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55076" y="6825224"/>
            <a:ext cx="2308498" cy="703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4"/>
              </a:lnSpc>
            </a:pPr>
            <a:r>
              <a:rPr lang="en-US" sz="1200" spc="18" dirty="0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Plain-language summaries and actionable next steps for each recommendation.</a:t>
            </a:r>
            <a:endParaRPr lang="en-US" sz="1200" spc="18" dirty="0">
              <a:solidFill>
                <a:srgbClr val="405449"/>
              </a:solidFill>
              <a:latin typeface="Open Sans"/>
              <a:ea typeface="Open Sans"/>
              <a:cs typeface="Open Sans"/>
              <a:sym typeface="Open Sans"/>
              <a:hlinkClick r:id="rId5" tooltip="https://gamma.app/?utm_source=made-with-gamma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00075" y="1100699"/>
            <a:ext cx="38252" cy="196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 spc="17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0075" y="1318252"/>
            <a:ext cx="10144373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spc="20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SAMVIDA is an accessible AI-assisted platform that converts a user's basic profile into personalised government scheme recommendations and plain-language benefit explanations.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7031" y="2239889"/>
            <a:ext cx="1315169" cy="2852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97"/>
              </a:lnSpc>
            </a:pPr>
            <a:r>
              <a:rPr lang="en-US" sz="1712" b="1" dirty="0">
                <a:solidFill>
                  <a:srgbClr val="FFFFFF"/>
                </a:solidFill>
                <a:latin typeface="Fraunces Bold"/>
                <a:ea typeface="Fraunces Bold"/>
                <a:cs typeface="Fraunces Bold"/>
                <a:sym typeface="Fraunces Bold"/>
              </a:rPr>
              <a:t>User Input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7031" y="3252616"/>
            <a:ext cx="1934051" cy="2852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97"/>
              </a:lnSpc>
            </a:pPr>
            <a:r>
              <a:rPr lang="en-US" sz="1712" b="1" dirty="0">
                <a:solidFill>
                  <a:srgbClr val="FFFFFF"/>
                </a:solidFill>
                <a:latin typeface="Fraunces Bold"/>
                <a:ea typeface="Fraunces Bold"/>
                <a:cs typeface="Fraunces Bold"/>
                <a:sym typeface="Fraunces Bold"/>
              </a:rPr>
              <a:t>Profile Analysis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7031" y="4255122"/>
            <a:ext cx="1934051" cy="28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7"/>
              </a:lnSpc>
            </a:pPr>
            <a:r>
              <a:rPr lang="en-US" sz="1712" b="1">
                <a:solidFill>
                  <a:srgbClr val="FFFFFF"/>
                </a:solidFill>
                <a:latin typeface="Fraunces Bold"/>
                <a:ea typeface="Fraunces Bold"/>
                <a:cs typeface="Fraunces Bold"/>
                <a:sym typeface="Fraunces Bold"/>
              </a:rPr>
              <a:t>Scheme Matching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7031" y="5267849"/>
            <a:ext cx="2643307" cy="28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7"/>
              </a:lnSpc>
            </a:pPr>
            <a:r>
              <a:rPr lang="en-US" sz="1712" b="1">
                <a:solidFill>
                  <a:srgbClr val="FFFFFF"/>
                </a:solidFill>
                <a:latin typeface="Fraunces Bold"/>
                <a:ea typeface="Fraunces Bold"/>
                <a:cs typeface="Fraunces Bold"/>
                <a:sym typeface="Fraunces Bold"/>
              </a:rPr>
              <a:t>Recommended Schemes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10160" y="6256239"/>
            <a:ext cx="2237327" cy="25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Personalised discovery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982613" y="6275289"/>
            <a:ext cx="1769259" cy="47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76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Eligibility-based recommendations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55076" y="6265764"/>
            <a:ext cx="1290904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5"/>
              </a:lnSpc>
            </a:pPr>
            <a:r>
              <a:rPr lang="en-US" sz="150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Clear benefit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6572" y="2495293"/>
            <a:ext cx="3441697" cy="2174872"/>
          </a:xfrm>
          <a:custGeom>
            <a:avLst/>
            <a:gdLst/>
            <a:ahLst/>
            <a:cxnLst/>
            <a:rect l="l" t="t" r="r" b="b"/>
            <a:pathLst>
              <a:path w="3441697" h="2174872">
                <a:moveTo>
                  <a:pt x="0" y="0"/>
                </a:moveTo>
                <a:lnTo>
                  <a:pt x="3441697" y="0"/>
                </a:lnTo>
                <a:lnTo>
                  <a:pt x="3441697" y="2174872"/>
                </a:lnTo>
                <a:lnTo>
                  <a:pt x="0" y="21748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46187" y="6673596"/>
            <a:ext cx="3309642" cy="9525"/>
            <a:chOff x="0" y="0"/>
            <a:chExt cx="3309645" cy="95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09626" cy="9525"/>
            </a:xfrm>
            <a:custGeom>
              <a:avLst/>
              <a:gdLst/>
              <a:ahLst/>
              <a:cxnLst/>
              <a:rect l="l" t="t" r="r" b="b"/>
              <a:pathLst>
                <a:path w="3309626" h="9525">
                  <a:moveTo>
                    <a:pt x="0" y="0"/>
                  </a:moveTo>
                  <a:lnTo>
                    <a:pt x="0" y="9525"/>
                  </a:lnTo>
                  <a:lnTo>
                    <a:pt x="239268" y="9525"/>
                  </a:lnTo>
                  <a:lnTo>
                    <a:pt x="239268" y="0"/>
                  </a:lnTo>
                  <a:close/>
                  <a:moveTo>
                    <a:pt x="296926" y="0"/>
                  </a:moveTo>
                  <a:lnTo>
                    <a:pt x="296926" y="9525"/>
                  </a:lnTo>
                  <a:lnTo>
                    <a:pt x="610363" y="9525"/>
                  </a:lnTo>
                  <a:lnTo>
                    <a:pt x="610363" y="0"/>
                  </a:lnTo>
                  <a:close/>
                  <a:moveTo>
                    <a:pt x="728092" y="0"/>
                  </a:moveTo>
                  <a:lnTo>
                    <a:pt x="728092" y="9525"/>
                  </a:lnTo>
                  <a:lnTo>
                    <a:pt x="3309626" y="9525"/>
                  </a:lnTo>
                  <a:lnTo>
                    <a:pt x="3309626" y="0"/>
                  </a:ln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536572" y="4695568"/>
            <a:ext cx="5165722" cy="1698622"/>
          </a:xfrm>
          <a:custGeom>
            <a:avLst/>
            <a:gdLst/>
            <a:ahLst/>
            <a:cxnLst/>
            <a:rect l="l" t="t" r="r" b="b"/>
            <a:pathLst>
              <a:path w="5165722" h="1698622">
                <a:moveTo>
                  <a:pt x="0" y="0"/>
                </a:moveTo>
                <a:lnTo>
                  <a:pt x="5165722" y="0"/>
                </a:lnTo>
                <a:lnTo>
                  <a:pt x="5165722" y="1698622"/>
                </a:lnTo>
                <a:lnTo>
                  <a:pt x="0" y="1698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994147" y="2495293"/>
            <a:ext cx="3441697" cy="2174872"/>
          </a:xfrm>
          <a:custGeom>
            <a:avLst/>
            <a:gdLst/>
            <a:ahLst/>
            <a:cxnLst/>
            <a:rect l="l" t="t" r="r" b="b"/>
            <a:pathLst>
              <a:path w="3441697" h="2174872">
                <a:moveTo>
                  <a:pt x="0" y="0"/>
                </a:moveTo>
                <a:lnTo>
                  <a:pt x="3441697" y="0"/>
                </a:lnTo>
                <a:lnTo>
                  <a:pt x="3441697" y="2174872"/>
                </a:lnTo>
                <a:lnTo>
                  <a:pt x="0" y="21748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461247" y="2495293"/>
            <a:ext cx="3432172" cy="2174872"/>
          </a:xfrm>
          <a:custGeom>
            <a:avLst/>
            <a:gdLst/>
            <a:ahLst/>
            <a:cxnLst/>
            <a:rect l="l" t="t" r="r" b="b"/>
            <a:pathLst>
              <a:path w="3432172" h="2174872">
                <a:moveTo>
                  <a:pt x="0" y="0"/>
                </a:moveTo>
                <a:lnTo>
                  <a:pt x="3432172" y="0"/>
                </a:lnTo>
                <a:lnTo>
                  <a:pt x="3432172" y="2174872"/>
                </a:lnTo>
                <a:lnTo>
                  <a:pt x="0" y="21748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727697" y="4695568"/>
            <a:ext cx="5165722" cy="1698622"/>
          </a:xfrm>
          <a:custGeom>
            <a:avLst/>
            <a:gdLst/>
            <a:ahLst/>
            <a:cxnLst/>
            <a:rect l="l" t="t" r="r" b="b"/>
            <a:pathLst>
              <a:path w="5165722" h="1698622">
                <a:moveTo>
                  <a:pt x="0" y="0"/>
                </a:moveTo>
                <a:lnTo>
                  <a:pt x="5165722" y="0"/>
                </a:lnTo>
                <a:lnTo>
                  <a:pt x="5165722" y="1698622"/>
                </a:lnTo>
                <a:lnTo>
                  <a:pt x="0" y="1698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00356" y="1126266"/>
            <a:ext cx="582191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Technology &amp; Implementation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9144" y="3478520"/>
            <a:ext cx="3003309" cy="665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81" spc="17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React + TypeScript frontend built with Vite and Tailwind CSS for fast, accessible UI.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7603" y="6507470"/>
            <a:ext cx="4251446" cy="21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181" spc="24">
                <a:solidFill>
                  <a:srgbClr val="405449"/>
                </a:solidFill>
                <a:latin typeface="Montserrat"/>
                <a:ea typeface="Montserrat"/>
                <a:cs typeface="Montserrat"/>
                <a:sym typeface="Montserrat"/>
              </a:rPr>
              <a:t>Repository: </a:t>
            </a:r>
            <a:r>
              <a:rPr lang="en-US" sz="1181" b="1" spc="24">
                <a:solidFill>
                  <a:srgbClr val="438951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7" tooltip="https://github.com/Rushank2106/Samvid"/>
              </a:rPr>
              <a:t>https://github.com/Rushank2106/Samvid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9144" y="5678795"/>
            <a:ext cx="4693653" cy="45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81" spc="17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Structured scheme records stored in the DB; new records can be added incrementally from verified sources.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29100" y="3478520"/>
            <a:ext cx="2613012" cy="929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81" spc="17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Client-side and server-side logic performs eligibility parsing and matching; AI-assisted components where implemented in repo.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59078" y="5678795"/>
            <a:ext cx="4547311" cy="45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81" spc="17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Personalized scheme recommendations presented to the user with benefit summaries and next steps.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89056" y="3478520"/>
            <a:ext cx="2992679" cy="691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81" spc="17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Supabase used as the primary database and auth layer for scheme data and user profiles.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3920" y="1766313"/>
            <a:ext cx="10786080" cy="46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spc="19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Implementation matches the GitHub repository: a modern frontend stack with a backend database and eligibility-processing components. All stated technologies are taken from the repository.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09952" y="2640168"/>
            <a:ext cx="91630" cy="24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1417" b="1">
                <a:solidFill>
                  <a:srgbClr val="FFFFFF"/>
                </a:solidFill>
                <a:latin typeface="Fraunces Bold"/>
                <a:ea typeface="Fraunces Bold"/>
                <a:cs typeface="Fraunces Bold"/>
                <a:sym typeface="Fraunces Bold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58716" y="4849968"/>
            <a:ext cx="124768" cy="24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1417" b="1">
                <a:solidFill>
                  <a:srgbClr val="FFFFFF"/>
                </a:solidFill>
                <a:latin typeface="Fraunces Bold"/>
                <a:ea typeface="Fraunces Bold"/>
                <a:cs typeface="Fraunces Bold"/>
                <a:sym typeface="Fraunces Bold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56069" y="2640168"/>
            <a:ext cx="119996" cy="24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1417" b="1">
                <a:solidFill>
                  <a:srgbClr val="FFFFFF"/>
                </a:solidFill>
                <a:latin typeface="Fraunces Bold"/>
                <a:ea typeface="Fraunces Bold"/>
                <a:cs typeface="Fraunces Bold"/>
                <a:sym typeface="Fraunces Bold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54013" y="4849968"/>
            <a:ext cx="113938" cy="24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1417" b="1">
                <a:solidFill>
                  <a:srgbClr val="FFFFFF"/>
                </a:solidFill>
                <a:latin typeface="Fraunces Bold"/>
                <a:ea typeface="Fraunces Bold"/>
                <a:cs typeface="Fraunces Bold"/>
                <a:sym typeface="Fraunces Bold"/>
              </a:rPr>
              <a:t>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20483" y="2640168"/>
            <a:ext cx="110909" cy="24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1417" b="1">
                <a:solidFill>
                  <a:srgbClr val="FFFFFF"/>
                </a:solidFill>
                <a:latin typeface="Fraunces Bold"/>
                <a:ea typeface="Fraunces Bold"/>
                <a:cs typeface="Fraunces Bold"/>
                <a:sym typeface="Fraunces Bold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9144" y="3138135"/>
            <a:ext cx="1540215" cy="24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1. User Interface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69144" y="5338410"/>
            <a:ext cx="2742171" cy="25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4. Government Scheme Data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229100" y="3138135"/>
            <a:ext cx="1930765" cy="25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2. Application Logic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59078" y="5338410"/>
            <a:ext cx="948871" cy="25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5. Results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89056" y="3138135"/>
            <a:ext cx="1118397" cy="25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6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3. Database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374" y="1531099"/>
            <a:ext cx="2059129" cy="2034518"/>
            <a:chOff x="0" y="0"/>
            <a:chExt cx="2390775" cy="2362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90648" cy="2362073"/>
            </a:xfrm>
            <a:custGeom>
              <a:avLst/>
              <a:gdLst/>
              <a:ahLst/>
              <a:cxnLst/>
              <a:rect l="l" t="t" r="r" b="b"/>
              <a:pathLst>
                <a:path w="2390648" h="2362073">
                  <a:moveTo>
                    <a:pt x="0" y="2249678"/>
                  </a:moveTo>
                  <a:lnTo>
                    <a:pt x="0" y="112522"/>
                  </a:lnTo>
                  <a:cubicBezTo>
                    <a:pt x="0" y="105156"/>
                    <a:pt x="762" y="97790"/>
                    <a:pt x="2159" y="90551"/>
                  </a:cubicBezTo>
                  <a:cubicBezTo>
                    <a:pt x="3556" y="83312"/>
                    <a:pt x="5715" y="76327"/>
                    <a:pt x="8509" y="69469"/>
                  </a:cubicBezTo>
                  <a:cubicBezTo>
                    <a:pt x="11303" y="62611"/>
                    <a:pt x="14859" y="56134"/>
                    <a:pt x="18923" y="50038"/>
                  </a:cubicBezTo>
                  <a:cubicBezTo>
                    <a:pt x="22987" y="43942"/>
                    <a:pt x="27686" y="38227"/>
                    <a:pt x="32893" y="33020"/>
                  </a:cubicBezTo>
                  <a:cubicBezTo>
                    <a:pt x="38100" y="27813"/>
                    <a:pt x="43815" y="23114"/>
                    <a:pt x="49911" y="19050"/>
                  </a:cubicBezTo>
                  <a:cubicBezTo>
                    <a:pt x="56007" y="14986"/>
                    <a:pt x="62611" y="11430"/>
                    <a:pt x="69469" y="8509"/>
                  </a:cubicBezTo>
                  <a:cubicBezTo>
                    <a:pt x="76327" y="5588"/>
                    <a:pt x="83312" y="3556"/>
                    <a:pt x="90551" y="2159"/>
                  </a:cubicBezTo>
                  <a:cubicBezTo>
                    <a:pt x="97790" y="762"/>
                    <a:pt x="105156" y="0"/>
                    <a:pt x="112522" y="0"/>
                  </a:cubicBezTo>
                  <a:lnTo>
                    <a:pt x="2278253" y="0"/>
                  </a:lnTo>
                  <a:cubicBezTo>
                    <a:pt x="2285619" y="0"/>
                    <a:pt x="2292985" y="762"/>
                    <a:pt x="2300224" y="2159"/>
                  </a:cubicBezTo>
                  <a:cubicBezTo>
                    <a:pt x="2307463" y="3556"/>
                    <a:pt x="2314448" y="5715"/>
                    <a:pt x="2321306" y="8509"/>
                  </a:cubicBezTo>
                  <a:cubicBezTo>
                    <a:pt x="2328164" y="11303"/>
                    <a:pt x="2334641" y="14859"/>
                    <a:pt x="2340737" y="18923"/>
                  </a:cubicBezTo>
                  <a:cubicBezTo>
                    <a:pt x="2346833" y="22987"/>
                    <a:pt x="2352548" y="27686"/>
                    <a:pt x="2357755" y="32893"/>
                  </a:cubicBezTo>
                  <a:cubicBezTo>
                    <a:pt x="2362962" y="38100"/>
                    <a:pt x="2367661" y="43815"/>
                    <a:pt x="2371725" y="49911"/>
                  </a:cubicBezTo>
                  <a:cubicBezTo>
                    <a:pt x="2375789" y="56007"/>
                    <a:pt x="2379345" y="62484"/>
                    <a:pt x="2382139" y="69342"/>
                  </a:cubicBezTo>
                  <a:cubicBezTo>
                    <a:pt x="2384933" y="76200"/>
                    <a:pt x="2387092" y="83185"/>
                    <a:pt x="2388489" y="90424"/>
                  </a:cubicBezTo>
                  <a:cubicBezTo>
                    <a:pt x="2389886" y="97663"/>
                    <a:pt x="2390648" y="105029"/>
                    <a:pt x="2390648" y="112395"/>
                  </a:cubicBezTo>
                  <a:lnTo>
                    <a:pt x="2390648" y="2249678"/>
                  </a:lnTo>
                  <a:cubicBezTo>
                    <a:pt x="2390648" y="2257044"/>
                    <a:pt x="2389886" y="2264410"/>
                    <a:pt x="2388489" y="2271649"/>
                  </a:cubicBezTo>
                  <a:cubicBezTo>
                    <a:pt x="2387092" y="2278888"/>
                    <a:pt x="2384933" y="2285873"/>
                    <a:pt x="2382139" y="2292731"/>
                  </a:cubicBezTo>
                  <a:cubicBezTo>
                    <a:pt x="2379345" y="2299589"/>
                    <a:pt x="2375789" y="2306066"/>
                    <a:pt x="2371725" y="2312162"/>
                  </a:cubicBezTo>
                  <a:cubicBezTo>
                    <a:pt x="2367661" y="2318258"/>
                    <a:pt x="2362962" y="2323973"/>
                    <a:pt x="2357755" y="2329180"/>
                  </a:cubicBezTo>
                  <a:cubicBezTo>
                    <a:pt x="2352548" y="2334387"/>
                    <a:pt x="2346833" y="2339086"/>
                    <a:pt x="2340737" y="2343150"/>
                  </a:cubicBezTo>
                  <a:cubicBezTo>
                    <a:pt x="2334641" y="2347214"/>
                    <a:pt x="2328164" y="2350770"/>
                    <a:pt x="2321306" y="2353564"/>
                  </a:cubicBezTo>
                  <a:cubicBezTo>
                    <a:pt x="2314448" y="2356358"/>
                    <a:pt x="2307463" y="2358517"/>
                    <a:pt x="2300224" y="2359914"/>
                  </a:cubicBezTo>
                  <a:cubicBezTo>
                    <a:pt x="2292985" y="2361311"/>
                    <a:pt x="2285619" y="2362073"/>
                    <a:pt x="2278253" y="2362073"/>
                  </a:cubicBezTo>
                  <a:lnTo>
                    <a:pt x="112522" y="2362073"/>
                  </a:lnTo>
                  <a:cubicBezTo>
                    <a:pt x="105156" y="2362073"/>
                    <a:pt x="97790" y="2361311"/>
                    <a:pt x="90551" y="2359914"/>
                  </a:cubicBezTo>
                  <a:cubicBezTo>
                    <a:pt x="83312" y="2358517"/>
                    <a:pt x="76327" y="2356358"/>
                    <a:pt x="69469" y="2353564"/>
                  </a:cubicBezTo>
                  <a:cubicBezTo>
                    <a:pt x="62611" y="2350770"/>
                    <a:pt x="56134" y="2347214"/>
                    <a:pt x="50038" y="2343150"/>
                  </a:cubicBezTo>
                  <a:cubicBezTo>
                    <a:pt x="43942" y="2339086"/>
                    <a:pt x="38227" y="2334387"/>
                    <a:pt x="33020" y="2329180"/>
                  </a:cubicBezTo>
                  <a:cubicBezTo>
                    <a:pt x="27813" y="2323973"/>
                    <a:pt x="23114" y="2318258"/>
                    <a:pt x="19050" y="2312162"/>
                  </a:cubicBezTo>
                  <a:cubicBezTo>
                    <a:pt x="14986" y="2306066"/>
                    <a:pt x="11430" y="2299589"/>
                    <a:pt x="8636" y="2292731"/>
                  </a:cubicBezTo>
                  <a:cubicBezTo>
                    <a:pt x="5842" y="2285873"/>
                    <a:pt x="3683" y="2278888"/>
                    <a:pt x="2286" y="2271649"/>
                  </a:cubicBezTo>
                  <a:cubicBezTo>
                    <a:pt x="889" y="2264410"/>
                    <a:pt x="0" y="2257044"/>
                    <a:pt x="0" y="2249678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2374" y="3632292"/>
            <a:ext cx="4337598" cy="766058"/>
            <a:chOff x="0" y="0"/>
            <a:chExt cx="5033312" cy="8889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33183" cy="888830"/>
            </a:xfrm>
            <a:custGeom>
              <a:avLst/>
              <a:gdLst/>
              <a:ahLst/>
              <a:cxnLst/>
              <a:rect l="l" t="t" r="r" b="b"/>
              <a:pathLst>
                <a:path w="5033183" h="888830">
                  <a:moveTo>
                    <a:pt x="0" y="802852"/>
                  </a:moveTo>
                  <a:lnTo>
                    <a:pt x="0" y="86075"/>
                  </a:lnTo>
                  <a:cubicBezTo>
                    <a:pt x="0" y="80441"/>
                    <a:pt x="777" y="74806"/>
                    <a:pt x="2202" y="69268"/>
                  </a:cubicBezTo>
                  <a:cubicBezTo>
                    <a:pt x="3628" y="63731"/>
                    <a:pt x="5830" y="58387"/>
                    <a:pt x="8680" y="53141"/>
                  </a:cubicBezTo>
                  <a:cubicBezTo>
                    <a:pt x="11531" y="47895"/>
                    <a:pt x="15158" y="42941"/>
                    <a:pt x="19304" y="38277"/>
                  </a:cubicBezTo>
                  <a:cubicBezTo>
                    <a:pt x="23450" y="33614"/>
                    <a:pt x="28244" y="29242"/>
                    <a:pt x="33555" y="25259"/>
                  </a:cubicBezTo>
                  <a:cubicBezTo>
                    <a:pt x="38867" y="21276"/>
                    <a:pt x="44697" y="17681"/>
                    <a:pt x="50916" y="14573"/>
                  </a:cubicBezTo>
                  <a:cubicBezTo>
                    <a:pt x="57135" y="11464"/>
                    <a:pt x="63872" y="8744"/>
                    <a:pt x="70868" y="6509"/>
                  </a:cubicBezTo>
                  <a:cubicBezTo>
                    <a:pt x="77864" y="4275"/>
                    <a:pt x="84990" y="2720"/>
                    <a:pt x="92375" y="1652"/>
                  </a:cubicBezTo>
                  <a:cubicBezTo>
                    <a:pt x="99759" y="583"/>
                    <a:pt x="107274" y="0"/>
                    <a:pt x="114788" y="0"/>
                  </a:cubicBezTo>
                  <a:lnTo>
                    <a:pt x="4918524" y="0"/>
                  </a:lnTo>
                  <a:cubicBezTo>
                    <a:pt x="4926038" y="0"/>
                    <a:pt x="4933553" y="583"/>
                    <a:pt x="4940938" y="1652"/>
                  </a:cubicBezTo>
                  <a:cubicBezTo>
                    <a:pt x="4948322" y="2720"/>
                    <a:pt x="4955448" y="4372"/>
                    <a:pt x="4962444" y="6509"/>
                  </a:cubicBezTo>
                  <a:cubicBezTo>
                    <a:pt x="4969440" y="8646"/>
                    <a:pt x="4976048" y="11367"/>
                    <a:pt x="4982267" y="14475"/>
                  </a:cubicBezTo>
                  <a:cubicBezTo>
                    <a:pt x="4988485" y="17584"/>
                    <a:pt x="4994315" y="21179"/>
                    <a:pt x="4999627" y="25162"/>
                  </a:cubicBezTo>
                  <a:cubicBezTo>
                    <a:pt x="5004939" y="29145"/>
                    <a:pt x="5009733" y="33517"/>
                    <a:pt x="5013878" y="38180"/>
                  </a:cubicBezTo>
                  <a:cubicBezTo>
                    <a:pt x="5018024" y="42843"/>
                    <a:pt x="5021652" y="47798"/>
                    <a:pt x="5024502" y="53044"/>
                  </a:cubicBezTo>
                  <a:cubicBezTo>
                    <a:pt x="5027352" y="58290"/>
                    <a:pt x="5029555" y="63634"/>
                    <a:pt x="5030980" y="69171"/>
                  </a:cubicBezTo>
                  <a:cubicBezTo>
                    <a:pt x="5032406" y="74709"/>
                    <a:pt x="5033183" y="80344"/>
                    <a:pt x="5033183" y="85978"/>
                  </a:cubicBezTo>
                  <a:lnTo>
                    <a:pt x="5033183" y="802852"/>
                  </a:lnTo>
                  <a:cubicBezTo>
                    <a:pt x="5033183" y="808487"/>
                    <a:pt x="5032406" y="814122"/>
                    <a:pt x="5030980" y="819659"/>
                  </a:cubicBezTo>
                  <a:cubicBezTo>
                    <a:pt x="5029555" y="825197"/>
                    <a:pt x="5027352" y="830540"/>
                    <a:pt x="5024502" y="835786"/>
                  </a:cubicBezTo>
                  <a:cubicBezTo>
                    <a:pt x="5021652" y="841032"/>
                    <a:pt x="5018024" y="845987"/>
                    <a:pt x="5013878" y="850650"/>
                  </a:cubicBezTo>
                  <a:cubicBezTo>
                    <a:pt x="5009733" y="855313"/>
                    <a:pt x="5004939" y="859685"/>
                    <a:pt x="4999627" y="863669"/>
                  </a:cubicBezTo>
                  <a:cubicBezTo>
                    <a:pt x="4994315" y="867652"/>
                    <a:pt x="4988485" y="871246"/>
                    <a:pt x="4982267" y="874355"/>
                  </a:cubicBezTo>
                  <a:cubicBezTo>
                    <a:pt x="4976048" y="877464"/>
                    <a:pt x="4969440" y="880184"/>
                    <a:pt x="4962444" y="882321"/>
                  </a:cubicBezTo>
                  <a:cubicBezTo>
                    <a:pt x="4955448" y="884459"/>
                    <a:pt x="4948322" y="886110"/>
                    <a:pt x="4940938" y="887179"/>
                  </a:cubicBezTo>
                  <a:cubicBezTo>
                    <a:pt x="4933553" y="888248"/>
                    <a:pt x="4926038" y="888830"/>
                    <a:pt x="4918524" y="888830"/>
                  </a:cubicBezTo>
                  <a:lnTo>
                    <a:pt x="114788" y="888830"/>
                  </a:lnTo>
                  <a:cubicBezTo>
                    <a:pt x="107274" y="888830"/>
                    <a:pt x="99759" y="888248"/>
                    <a:pt x="92375" y="887179"/>
                  </a:cubicBezTo>
                  <a:cubicBezTo>
                    <a:pt x="84990" y="886110"/>
                    <a:pt x="77864" y="884459"/>
                    <a:pt x="70868" y="882321"/>
                  </a:cubicBezTo>
                  <a:cubicBezTo>
                    <a:pt x="63872" y="880184"/>
                    <a:pt x="57264" y="877464"/>
                    <a:pt x="51046" y="874355"/>
                  </a:cubicBezTo>
                  <a:cubicBezTo>
                    <a:pt x="44827" y="871246"/>
                    <a:pt x="38997" y="867652"/>
                    <a:pt x="33685" y="863669"/>
                  </a:cubicBezTo>
                  <a:cubicBezTo>
                    <a:pt x="28373" y="859685"/>
                    <a:pt x="23579" y="855313"/>
                    <a:pt x="19434" y="850650"/>
                  </a:cubicBezTo>
                  <a:cubicBezTo>
                    <a:pt x="15288" y="845987"/>
                    <a:pt x="11660" y="841032"/>
                    <a:pt x="8810" y="835786"/>
                  </a:cubicBezTo>
                  <a:cubicBezTo>
                    <a:pt x="5960" y="830540"/>
                    <a:pt x="3757" y="825197"/>
                    <a:pt x="2332" y="819659"/>
                  </a:cubicBezTo>
                  <a:cubicBezTo>
                    <a:pt x="907" y="814122"/>
                    <a:pt x="0" y="808487"/>
                    <a:pt x="0" y="802852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793706" y="1878197"/>
            <a:ext cx="4422705" cy="4422705"/>
            <a:chOff x="0" y="0"/>
            <a:chExt cx="6578600" cy="6578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578600" cy="6578600"/>
            </a:xfrm>
            <a:custGeom>
              <a:avLst/>
              <a:gdLst/>
              <a:ahLst/>
              <a:cxnLst/>
              <a:rect l="l" t="t" r="r" b="b"/>
              <a:pathLst>
                <a:path w="6578600" h="6578600">
                  <a:moveTo>
                    <a:pt x="149987" y="0"/>
                  </a:moveTo>
                  <a:cubicBezTo>
                    <a:pt x="130175" y="0"/>
                    <a:pt x="110998" y="3810"/>
                    <a:pt x="92583" y="11430"/>
                  </a:cubicBezTo>
                  <a:cubicBezTo>
                    <a:pt x="74168" y="19050"/>
                    <a:pt x="58039" y="29845"/>
                    <a:pt x="43942" y="43942"/>
                  </a:cubicBezTo>
                  <a:cubicBezTo>
                    <a:pt x="29845" y="58039"/>
                    <a:pt x="19050" y="74168"/>
                    <a:pt x="11430" y="92583"/>
                  </a:cubicBezTo>
                  <a:cubicBezTo>
                    <a:pt x="3810" y="110998"/>
                    <a:pt x="0" y="130048"/>
                    <a:pt x="0" y="149860"/>
                  </a:cubicBezTo>
                  <a:lnTo>
                    <a:pt x="0" y="6428740"/>
                  </a:lnTo>
                  <a:cubicBezTo>
                    <a:pt x="0" y="6448552"/>
                    <a:pt x="3810" y="6467602"/>
                    <a:pt x="11430" y="6486017"/>
                  </a:cubicBezTo>
                  <a:cubicBezTo>
                    <a:pt x="19050" y="6504432"/>
                    <a:pt x="29845" y="6520561"/>
                    <a:pt x="43942" y="6534658"/>
                  </a:cubicBezTo>
                  <a:cubicBezTo>
                    <a:pt x="58039" y="6548755"/>
                    <a:pt x="74295" y="6559550"/>
                    <a:pt x="92583" y="6567170"/>
                  </a:cubicBezTo>
                  <a:cubicBezTo>
                    <a:pt x="110871" y="6574790"/>
                    <a:pt x="130048" y="6578600"/>
                    <a:pt x="149987" y="6578600"/>
                  </a:cubicBezTo>
                  <a:lnTo>
                    <a:pt x="6428613" y="6578600"/>
                  </a:lnTo>
                  <a:cubicBezTo>
                    <a:pt x="6448552" y="6578600"/>
                    <a:pt x="6467602" y="6574790"/>
                    <a:pt x="6486017" y="6567170"/>
                  </a:cubicBezTo>
                  <a:cubicBezTo>
                    <a:pt x="6504432" y="6559550"/>
                    <a:pt x="6520561" y="6548755"/>
                    <a:pt x="6534658" y="6534658"/>
                  </a:cubicBezTo>
                  <a:cubicBezTo>
                    <a:pt x="6548755" y="6520561"/>
                    <a:pt x="6559550" y="6504305"/>
                    <a:pt x="6567170" y="6486017"/>
                  </a:cubicBezTo>
                  <a:cubicBezTo>
                    <a:pt x="6574790" y="6467729"/>
                    <a:pt x="6578600" y="6448552"/>
                    <a:pt x="6578600" y="6428613"/>
                  </a:cubicBezTo>
                  <a:lnTo>
                    <a:pt x="6578600" y="149987"/>
                  </a:lnTo>
                  <a:cubicBezTo>
                    <a:pt x="6578600" y="130048"/>
                    <a:pt x="6574790" y="110998"/>
                    <a:pt x="6567170" y="92583"/>
                  </a:cubicBezTo>
                  <a:cubicBezTo>
                    <a:pt x="6559550" y="74168"/>
                    <a:pt x="6548755" y="58039"/>
                    <a:pt x="6534658" y="43942"/>
                  </a:cubicBezTo>
                  <a:cubicBezTo>
                    <a:pt x="6520561" y="29845"/>
                    <a:pt x="6504305" y="19050"/>
                    <a:pt x="6486017" y="11430"/>
                  </a:cubicBezTo>
                  <a:cubicBezTo>
                    <a:pt x="6467728" y="3810"/>
                    <a:pt x="6448552" y="0"/>
                    <a:pt x="6428613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86840" y="5940919"/>
            <a:ext cx="4536543" cy="856647"/>
            <a:chOff x="0" y="0"/>
            <a:chExt cx="5060950" cy="955675"/>
          </a:xfrm>
        </p:grpSpPr>
        <p:sp>
          <p:nvSpPr>
            <p:cNvPr id="9" name="Freeform 9"/>
            <p:cNvSpPr/>
            <p:nvPr/>
          </p:nvSpPr>
          <p:spPr>
            <a:xfrm>
              <a:off x="63500" y="63500"/>
              <a:ext cx="4933823" cy="828548"/>
            </a:xfrm>
            <a:custGeom>
              <a:avLst/>
              <a:gdLst/>
              <a:ahLst/>
              <a:cxnLst/>
              <a:rect l="l" t="t" r="r" b="b"/>
              <a:pathLst>
                <a:path w="4933823" h="828548">
                  <a:moveTo>
                    <a:pt x="0" y="716153"/>
                  </a:moveTo>
                  <a:lnTo>
                    <a:pt x="0" y="112522"/>
                  </a:lnTo>
                  <a:cubicBezTo>
                    <a:pt x="0" y="105156"/>
                    <a:pt x="762" y="97790"/>
                    <a:pt x="2159" y="90551"/>
                  </a:cubicBezTo>
                  <a:cubicBezTo>
                    <a:pt x="3556" y="83312"/>
                    <a:pt x="5715" y="76327"/>
                    <a:pt x="8509" y="69469"/>
                  </a:cubicBezTo>
                  <a:cubicBezTo>
                    <a:pt x="11303" y="62611"/>
                    <a:pt x="14859" y="56134"/>
                    <a:pt x="18923" y="50038"/>
                  </a:cubicBezTo>
                  <a:cubicBezTo>
                    <a:pt x="22987" y="43942"/>
                    <a:pt x="27686" y="38227"/>
                    <a:pt x="32893" y="33020"/>
                  </a:cubicBezTo>
                  <a:cubicBezTo>
                    <a:pt x="38100" y="27813"/>
                    <a:pt x="43815" y="23114"/>
                    <a:pt x="49911" y="19050"/>
                  </a:cubicBezTo>
                  <a:cubicBezTo>
                    <a:pt x="56007" y="14986"/>
                    <a:pt x="62484" y="11430"/>
                    <a:pt x="69342" y="8636"/>
                  </a:cubicBezTo>
                  <a:cubicBezTo>
                    <a:pt x="76200" y="5842"/>
                    <a:pt x="83185" y="3683"/>
                    <a:pt x="90424" y="2286"/>
                  </a:cubicBezTo>
                  <a:cubicBezTo>
                    <a:pt x="97663" y="889"/>
                    <a:pt x="105156" y="0"/>
                    <a:pt x="112522" y="0"/>
                  </a:cubicBezTo>
                  <a:lnTo>
                    <a:pt x="4821428" y="0"/>
                  </a:lnTo>
                  <a:cubicBezTo>
                    <a:pt x="4828794" y="0"/>
                    <a:pt x="4836160" y="762"/>
                    <a:pt x="4843399" y="2159"/>
                  </a:cubicBezTo>
                  <a:cubicBezTo>
                    <a:pt x="4850638" y="3556"/>
                    <a:pt x="4857623" y="5715"/>
                    <a:pt x="4864481" y="8509"/>
                  </a:cubicBezTo>
                  <a:cubicBezTo>
                    <a:pt x="4871339" y="11303"/>
                    <a:pt x="4877816" y="14859"/>
                    <a:pt x="4883912" y="18923"/>
                  </a:cubicBezTo>
                  <a:cubicBezTo>
                    <a:pt x="4890008" y="22987"/>
                    <a:pt x="4895723" y="27686"/>
                    <a:pt x="4900930" y="32893"/>
                  </a:cubicBezTo>
                  <a:cubicBezTo>
                    <a:pt x="4906137" y="38100"/>
                    <a:pt x="4910836" y="43815"/>
                    <a:pt x="4914900" y="49911"/>
                  </a:cubicBezTo>
                  <a:cubicBezTo>
                    <a:pt x="4918964" y="56007"/>
                    <a:pt x="4922520" y="62484"/>
                    <a:pt x="4925314" y="69342"/>
                  </a:cubicBezTo>
                  <a:cubicBezTo>
                    <a:pt x="4928108" y="76200"/>
                    <a:pt x="4930267" y="83185"/>
                    <a:pt x="4931664" y="90424"/>
                  </a:cubicBezTo>
                  <a:cubicBezTo>
                    <a:pt x="4933061" y="97663"/>
                    <a:pt x="4933823" y="105029"/>
                    <a:pt x="4933823" y="112395"/>
                  </a:cubicBezTo>
                  <a:lnTo>
                    <a:pt x="4933823" y="716153"/>
                  </a:lnTo>
                  <a:cubicBezTo>
                    <a:pt x="4933823" y="723519"/>
                    <a:pt x="4933061" y="730885"/>
                    <a:pt x="4931664" y="738124"/>
                  </a:cubicBezTo>
                  <a:cubicBezTo>
                    <a:pt x="4930267" y="745363"/>
                    <a:pt x="4928108" y="752348"/>
                    <a:pt x="4925314" y="759206"/>
                  </a:cubicBezTo>
                  <a:cubicBezTo>
                    <a:pt x="4922520" y="766064"/>
                    <a:pt x="4918964" y="772541"/>
                    <a:pt x="4914900" y="778637"/>
                  </a:cubicBezTo>
                  <a:cubicBezTo>
                    <a:pt x="4910836" y="784733"/>
                    <a:pt x="4906137" y="790448"/>
                    <a:pt x="4900930" y="795655"/>
                  </a:cubicBezTo>
                  <a:cubicBezTo>
                    <a:pt x="4895723" y="800862"/>
                    <a:pt x="4890008" y="805561"/>
                    <a:pt x="4883912" y="809625"/>
                  </a:cubicBezTo>
                  <a:cubicBezTo>
                    <a:pt x="4877816" y="813689"/>
                    <a:pt x="4871339" y="817245"/>
                    <a:pt x="4864481" y="820039"/>
                  </a:cubicBezTo>
                  <a:cubicBezTo>
                    <a:pt x="4857623" y="822833"/>
                    <a:pt x="4850638" y="824992"/>
                    <a:pt x="4843399" y="826389"/>
                  </a:cubicBezTo>
                  <a:cubicBezTo>
                    <a:pt x="4836160" y="827786"/>
                    <a:pt x="4828794" y="828548"/>
                    <a:pt x="4821428" y="828548"/>
                  </a:cubicBezTo>
                  <a:lnTo>
                    <a:pt x="112522" y="828548"/>
                  </a:lnTo>
                  <a:cubicBezTo>
                    <a:pt x="105156" y="828548"/>
                    <a:pt x="97790" y="827786"/>
                    <a:pt x="90551" y="826389"/>
                  </a:cubicBezTo>
                  <a:cubicBezTo>
                    <a:pt x="83312" y="824992"/>
                    <a:pt x="76327" y="822833"/>
                    <a:pt x="69469" y="820039"/>
                  </a:cubicBezTo>
                  <a:cubicBezTo>
                    <a:pt x="62611" y="817245"/>
                    <a:pt x="56134" y="813689"/>
                    <a:pt x="50038" y="809625"/>
                  </a:cubicBezTo>
                  <a:cubicBezTo>
                    <a:pt x="43942" y="805561"/>
                    <a:pt x="38227" y="800862"/>
                    <a:pt x="33020" y="795655"/>
                  </a:cubicBezTo>
                  <a:cubicBezTo>
                    <a:pt x="27813" y="790448"/>
                    <a:pt x="23114" y="784733"/>
                    <a:pt x="19050" y="778637"/>
                  </a:cubicBezTo>
                  <a:cubicBezTo>
                    <a:pt x="14986" y="772541"/>
                    <a:pt x="11430" y="766064"/>
                    <a:pt x="8636" y="759206"/>
                  </a:cubicBezTo>
                  <a:cubicBezTo>
                    <a:pt x="5842" y="752348"/>
                    <a:pt x="3683" y="745363"/>
                    <a:pt x="2286" y="738124"/>
                  </a:cubicBezTo>
                  <a:cubicBezTo>
                    <a:pt x="889" y="730885"/>
                    <a:pt x="0" y="723519"/>
                    <a:pt x="0" y="716153"/>
                  </a:cubicBezTo>
                  <a:close/>
                </a:path>
              </a:pathLst>
            </a:custGeom>
            <a:solidFill>
              <a:srgbClr val="DDEEE0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43967" y="291846"/>
              <a:ext cx="131318" cy="131445"/>
            </a:xfrm>
            <a:custGeom>
              <a:avLst/>
              <a:gdLst/>
              <a:ahLst/>
              <a:cxnLst/>
              <a:rect l="l" t="t" r="r" b="b"/>
              <a:pathLst>
                <a:path w="131318" h="131445">
                  <a:moveTo>
                    <a:pt x="18796" y="14224"/>
                  </a:moveTo>
                  <a:cubicBezTo>
                    <a:pt x="16256" y="14224"/>
                    <a:pt x="14097" y="16383"/>
                    <a:pt x="14097" y="18923"/>
                  </a:cubicBezTo>
                  <a:lnTo>
                    <a:pt x="14097" y="112649"/>
                  </a:lnTo>
                  <a:cubicBezTo>
                    <a:pt x="14097" y="115189"/>
                    <a:pt x="16256" y="117348"/>
                    <a:pt x="18796" y="117348"/>
                  </a:cubicBezTo>
                  <a:lnTo>
                    <a:pt x="84455" y="117348"/>
                  </a:lnTo>
                  <a:lnTo>
                    <a:pt x="84455" y="93853"/>
                  </a:lnTo>
                  <a:cubicBezTo>
                    <a:pt x="84455" y="88646"/>
                    <a:pt x="88646" y="84455"/>
                    <a:pt x="93853" y="84455"/>
                  </a:cubicBezTo>
                  <a:lnTo>
                    <a:pt x="117348" y="84455"/>
                  </a:lnTo>
                  <a:lnTo>
                    <a:pt x="117348" y="18796"/>
                  </a:lnTo>
                  <a:cubicBezTo>
                    <a:pt x="117348" y="16256"/>
                    <a:pt x="115189" y="14097"/>
                    <a:pt x="112649" y="14097"/>
                  </a:cubicBezTo>
                  <a:lnTo>
                    <a:pt x="18796" y="14097"/>
                  </a:lnTo>
                  <a:close/>
                  <a:moveTo>
                    <a:pt x="84455" y="131318"/>
                  </a:moveTo>
                  <a:lnTo>
                    <a:pt x="18796" y="131318"/>
                  </a:lnTo>
                  <a:cubicBezTo>
                    <a:pt x="8509" y="131318"/>
                    <a:pt x="0" y="122936"/>
                    <a:pt x="0" y="112522"/>
                  </a:cubicBezTo>
                  <a:lnTo>
                    <a:pt x="0" y="18796"/>
                  </a:lnTo>
                  <a:cubicBezTo>
                    <a:pt x="0" y="8509"/>
                    <a:pt x="8382" y="0"/>
                    <a:pt x="18796" y="0"/>
                  </a:cubicBezTo>
                  <a:lnTo>
                    <a:pt x="112522" y="0"/>
                  </a:lnTo>
                  <a:cubicBezTo>
                    <a:pt x="122809" y="0"/>
                    <a:pt x="131318" y="8382"/>
                    <a:pt x="131318" y="18796"/>
                  </a:cubicBezTo>
                  <a:lnTo>
                    <a:pt x="131318" y="84455"/>
                  </a:lnTo>
                  <a:lnTo>
                    <a:pt x="131318" y="86106"/>
                  </a:lnTo>
                  <a:cubicBezTo>
                    <a:pt x="131318" y="91059"/>
                    <a:pt x="129413" y="95885"/>
                    <a:pt x="125857" y="99441"/>
                  </a:cubicBezTo>
                  <a:lnTo>
                    <a:pt x="99314" y="125984"/>
                  </a:lnTo>
                  <a:cubicBezTo>
                    <a:pt x="95758" y="129540"/>
                    <a:pt x="91059" y="131445"/>
                    <a:pt x="85979" y="131445"/>
                  </a:cubicBezTo>
                  <a:lnTo>
                    <a:pt x="84328" y="131445"/>
                  </a:lnTo>
                  <a:close/>
                </a:path>
              </a:pathLst>
            </a:custGeom>
            <a:solidFill>
              <a:srgbClr val="32673D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32374" y="1011716"/>
            <a:ext cx="5435744" cy="457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9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Feasibility, Scalability &amp; Impact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6848" y="1617585"/>
            <a:ext cx="1864776" cy="1755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2"/>
              </a:lnSpc>
            </a:pPr>
            <a:r>
              <a:rPr lang="en-US" sz="1323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Feasibility</a:t>
            </a:r>
          </a:p>
          <a:p>
            <a:pPr algn="l">
              <a:lnSpc>
                <a:spcPts val="1690"/>
              </a:lnSpc>
            </a:pPr>
            <a:r>
              <a:rPr lang="en-US" sz="1058" spc="15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Web-first deployment using scalable, open-source- friendly technologies. Incremental rollouts and iterative testing possible from prototype to production.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6848" y="3654565"/>
            <a:ext cx="4204312" cy="663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323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Target users</a:t>
            </a:r>
          </a:p>
          <a:p>
            <a:pPr algn="l">
              <a:lnSpc>
                <a:spcPts val="1680"/>
              </a:lnSpc>
            </a:pPr>
            <a:r>
              <a:rPr lang="en-US" sz="1058" spc="15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Citizens, students, rural communities, low-income households, and users unfamiliar with government portals.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412031" y="1531099"/>
            <a:ext cx="2059129" cy="2010289"/>
            <a:chOff x="0" y="0"/>
            <a:chExt cx="2390775" cy="233406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90648" cy="2333943"/>
            </a:xfrm>
            <a:custGeom>
              <a:avLst/>
              <a:gdLst/>
              <a:ahLst/>
              <a:cxnLst/>
              <a:rect l="l" t="t" r="r" b="b"/>
              <a:pathLst>
                <a:path w="2390648" h="2333943">
                  <a:moveTo>
                    <a:pt x="0" y="2222887"/>
                  </a:moveTo>
                  <a:lnTo>
                    <a:pt x="0" y="111182"/>
                  </a:lnTo>
                  <a:cubicBezTo>
                    <a:pt x="0" y="103904"/>
                    <a:pt x="762" y="96625"/>
                    <a:pt x="2159" y="89473"/>
                  </a:cubicBezTo>
                  <a:cubicBezTo>
                    <a:pt x="3556" y="82320"/>
                    <a:pt x="5715" y="75418"/>
                    <a:pt x="8509" y="68642"/>
                  </a:cubicBezTo>
                  <a:cubicBezTo>
                    <a:pt x="11303" y="61865"/>
                    <a:pt x="14859" y="55466"/>
                    <a:pt x="18923" y="49442"/>
                  </a:cubicBezTo>
                  <a:cubicBezTo>
                    <a:pt x="22987" y="43419"/>
                    <a:pt x="27686" y="37772"/>
                    <a:pt x="32893" y="32627"/>
                  </a:cubicBezTo>
                  <a:cubicBezTo>
                    <a:pt x="38100" y="27482"/>
                    <a:pt x="43815" y="22839"/>
                    <a:pt x="49911" y="18823"/>
                  </a:cubicBezTo>
                  <a:cubicBezTo>
                    <a:pt x="56007" y="14808"/>
                    <a:pt x="62611" y="11294"/>
                    <a:pt x="69469" y="8408"/>
                  </a:cubicBezTo>
                  <a:cubicBezTo>
                    <a:pt x="76327" y="5521"/>
                    <a:pt x="83312" y="3514"/>
                    <a:pt x="90551" y="2133"/>
                  </a:cubicBezTo>
                  <a:cubicBezTo>
                    <a:pt x="97790" y="753"/>
                    <a:pt x="105156" y="0"/>
                    <a:pt x="112522" y="0"/>
                  </a:cubicBezTo>
                  <a:lnTo>
                    <a:pt x="2278253" y="0"/>
                  </a:lnTo>
                  <a:cubicBezTo>
                    <a:pt x="2285619" y="0"/>
                    <a:pt x="2292985" y="753"/>
                    <a:pt x="2300224" y="2133"/>
                  </a:cubicBezTo>
                  <a:cubicBezTo>
                    <a:pt x="2307463" y="3514"/>
                    <a:pt x="2314448" y="5647"/>
                    <a:pt x="2321306" y="8408"/>
                  </a:cubicBezTo>
                  <a:cubicBezTo>
                    <a:pt x="2328164" y="11168"/>
                    <a:pt x="2334641" y="14682"/>
                    <a:pt x="2340737" y="18698"/>
                  </a:cubicBezTo>
                  <a:cubicBezTo>
                    <a:pt x="2346833" y="22713"/>
                    <a:pt x="2352548" y="27356"/>
                    <a:pt x="2357755" y="32501"/>
                  </a:cubicBezTo>
                  <a:cubicBezTo>
                    <a:pt x="2362962" y="37646"/>
                    <a:pt x="2367661" y="43293"/>
                    <a:pt x="2371725" y="49317"/>
                  </a:cubicBezTo>
                  <a:cubicBezTo>
                    <a:pt x="2375789" y="55340"/>
                    <a:pt x="2379345" y="61740"/>
                    <a:pt x="2382139" y="68516"/>
                  </a:cubicBezTo>
                  <a:cubicBezTo>
                    <a:pt x="2384933" y="75293"/>
                    <a:pt x="2387092" y="82194"/>
                    <a:pt x="2388489" y="89347"/>
                  </a:cubicBezTo>
                  <a:cubicBezTo>
                    <a:pt x="2389886" y="96500"/>
                    <a:pt x="2390648" y="103778"/>
                    <a:pt x="2390648" y="111057"/>
                  </a:cubicBezTo>
                  <a:lnTo>
                    <a:pt x="2390648" y="2222887"/>
                  </a:lnTo>
                  <a:cubicBezTo>
                    <a:pt x="2390648" y="2230165"/>
                    <a:pt x="2389886" y="2237443"/>
                    <a:pt x="2388489" y="2244596"/>
                  </a:cubicBezTo>
                  <a:cubicBezTo>
                    <a:pt x="2387092" y="2251749"/>
                    <a:pt x="2384933" y="2258651"/>
                    <a:pt x="2382139" y="2265427"/>
                  </a:cubicBezTo>
                  <a:cubicBezTo>
                    <a:pt x="2379345" y="2272204"/>
                    <a:pt x="2375789" y="2278603"/>
                    <a:pt x="2371725" y="2284627"/>
                  </a:cubicBezTo>
                  <a:cubicBezTo>
                    <a:pt x="2367661" y="2290650"/>
                    <a:pt x="2362962" y="2296297"/>
                    <a:pt x="2357755" y="2301442"/>
                  </a:cubicBezTo>
                  <a:cubicBezTo>
                    <a:pt x="2352548" y="2306587"/>
                    <a:pt x="2346833" y="2311230"/>
                    <a:pt x="2340737" y="2315246"/>
                  </a:cubicBezTo>
                  <a:cubicBezTo>
                    <a:pt x="2334641" y="2319261"/>
                    <a:pt x="2328164" y="2322775"/>
                    <a:pt x="2321306" y="2325536"/>
                  </a:cubicBezTo>
                  <a:cubicBezTo>
                    <a:pt x="2314448" y="2328296"/>
                    <a:pt x="2307463" y="2330430"/>
                    <a:pt x="2300224" y="2331810"/>
                  </a:cubicBezTo>
                  <a:cubicBezTo>
                    <a:pt x="2292985" y="2333190"/>
                    <a:pt x="2285619" y="2333943"/>
                    <a:pt x="2278253" y="2333943"/>
                  </a:cubicBezTo>
                  <a:lnTo>
                    <a:pt x="112522" y="2333943"/>
                  </a:lnTo>
                  <a:cubicBezTo>
                    <a:pt x="105156" y="2333943"/>
                    <a:pt x="97790" y="2333190"/>
                    <a:pt x="90551" y="2331810"/>
                  </a:cubicBezTo>
                  <a:cubicBezTo>
                    <a:pt x="83312" y="2330430"/>
                    <a:pt x="76327" y="2328296"/>
                    <a:pt x="69469" y="2325536"/>
                  </a:cubicBezTo>
                  <a:cubicBezTo>
                    <a:pt x="62611" y="2322775"/>
                    <a:pt x="56134" y="2319261"/>
                    <a:pt x="50038" y="2315246"/>
                  </a:cubicBezTo>
                  <a:cubicBezTo>
                    <a:pt x="43942" y="2311230"/>
                    <a:pt x="38227" y="2306587"/>
                    <a:pt x="33020" y="2301442"/>
                  </a:cubicBezTo>
                  <a:cubicBezTo>
                    <a:pt x="27813" y="2296297"/>
                    <a:pt x="23114" y="2290650"/>
                    <a:pt x="19050" y="2284627"/>
                  </a:cubicBezTo>
                  <a:cubicBezTo>
                    <a:pt x="14986" y="2278603"/>
                    <a:pt x="11430" y="2272204"/>
                    <a:pt x="8636" y="2265427"/>
                  </a:cubicBezTo>
                  <a:cubicBezTo>
                    <a:pt x="5842" y="2258651"/>
                    <a:pt x="3683" y="2251749"/>
                    <a:pt x="2286" y="2244596"/>
                  </a:cubicBezTo>
                  <a:cubicBezTo>
                    <a:pt x="889" y="2237443"/>
                    <a:pt x="0" y="2230165"/>
                    <a:pt x="0" y="2222887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2544507" y="1617585"/>
            <a:ext cx="1925465" cy="1437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8"/>
              </a:lnSpc>
            </a:pPr>
            <a:r>
              <a:rPr lang="en-US" sz="1323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Scalability</a:t>
            </a:r>
          </a:p>
          <a:p>
            <a:pPr algn="l">
              <a:lnSpc>
                <a:spcPts val="1695"/>
              </a:lnSpc>
            </a:pPr>
            <a:r>
              <a:rPr lang="en-US" sz="1058" spc="15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Extensible scheme database, multi-region data imports, multilingual UI, and improved recommendation models over time.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5585" y="4538488"/>
            <a:ext cx="616447" cy="223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344" b="1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Impact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6912" y="6140685"/>
            <a:ext cx="3563530" cy="421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8"/>
              </a:lnSpc>
            </a:pPr>
            <a:r>
              <a:rPr lang="en-US" sz="1058" spc="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Design emphasises accessibility and plain language to maximise real-world uptake.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5585" y="4762451"/>
            <a:ext cx="4427798" cy="994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058" spc="15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Improves awareness of available welfare schemes.</a:t>
            </a:r>
          </a:p>
          <a:p>
            <a:pPr algn="l">
              <a:lnSpc>
                <a:spcPts val="2034"/>
              </a:lnSpc>
            </a:pPr>
            <a:r>
              <a:rPr lang="en-US" sz="1058" spc="15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Reduces information barriers and confusion.</a:t>
            </a:r>
          </a:p>
          <a:p>
            <a:pPr algn="l">
              <a:lnSpc>
                <a:spcPts val="2034"/>
              </a:lnSpc>
            </a:pPr>
            <a:r>
              <a:rPr lang="en-US" sz="1058" spc="15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Helps eligible users find benefits faster and understand next steps.</a:t>
            </a:r>
          </a:p>
          <a:p>
            <a:pPr algn="l">
              <a:lnSpc>
                <a:spcPts val="2034"/>
              </a:lnSpc>
            </a:pPr>
            <a:r>
              <a:rPr lang="en-US" sz="1058" spc="15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Supports incremental policy reach and better civic outcomes.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5103" y="4578718"/>
            <a:ext cx="2523303" cy="352564"/>
          </a:xfrm>
          <a:custGeom>
            <a:avLst/>
            <a:gdLst/>
            <a:ahLst/>
            <a:cxnLst/>
            <a:rect l="l" t="t" r="r" b="b"/>
            <a:pathLst>
              <a:path w="2523303" h="352564">
                <a:moveTo>
                  <a:pt x="0" y="0"/>
                </a:moveTo>
                <a:lnTo>
                  <a:pt x="2523303" y="0"/>
                </a:lnTo>
                <a:lnTo>
                  <a:pt x="2523303" y="352563"/>
                </a:lnTo>
                <a:lnTo>
                  <a:pt x="0" y="3525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53311" y="3588081"/>
            <a:ext cx="553739" cy="626796"/>
            <a:chOff x="0" y="0"/>
            <a:chExt cx="1033718" cy="11701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33499" cy="1170010"/>
            </a:xfrm>
            <a:custGeom>
              <a:avLst/>
              <a:gdLst/>
              <a:ahLst/>
              <a:cxnLst/>
              <a:rect l="l" t="t" r="r" b="b"/>
              <a:pathLst>
                <a:path w="1033499" h="1170010">
                  <a:moveTo>
                    <a:pt x="0" y="957002"/>
                  </a:moveTo>
                  <a:lnTo>
                    <a:pt x="0" y="213008"/>
                  </a:lnTo>
                  <a:cubicBezTo>
                    <a:pt x="0" y="206064"/>
                    <a:pt x="875" y="199030"/>
                    <a:pt x="2407" y="192086"/>
                  </a:cubicBezTo>
                  <a:cubicBezTo>
                    <a:pt x="3938" y="185142"/>
                    <a:pt x="6563" y="178288"/>
                    <a:pt x="9845" y="171434"/>
                  </a:cubicBezTo>
                  <a:cubicBezTo>
                    <a:pt x="13127" y="164581"/>
                    <a:pt x="17283" y="157817"/>
                    <a:pt x="22096" y="151144"/>
                  </a:cubicBezTo>
                  <a:cubicBezTo>
                    <a:pt x="26909" y="144470"/>
                    <a:pt x="32598" y="137887"/>
                    <a:pt x="39161" y="131484"/>
                  </a:cubicBezTo>
                  <a:cubicBezTo>
                    <a:pt x="45724" y="125081"/>
                    <a:pt x="52944" y="118769"/>
                    <a:pt x="60820" y="112546"/>
                  </a:cubicBezTo>
                  <a:cubicBezTo>
                    <a:pt x="68696" y="106324"/>
                    <a:pt x="77447" y="100372"/>
                    <a:pt x="86854" y="94600"/>
                  </a:cubicBezTo>
                  <a:cubicBezTo>
                    <a:pt x="96262" y="88828"/>
                    <a:pt x="106325" y="83237"/>
                    <a:pt x="117045" y="77826"/>
                  </a:cubicBezTo>
                  <a:cubicBezTo>
                    <a:pt x="127765" y="72415"/>
                    <a:pt x="139360" y="67365"/>
                    <a:pt x="151393" y="62405"/>
                  </a:cubicBezTo>
                  <a:cubicBezTo>
                    <a:pt x="163426" y="57445"/>
                    <a:pt x="175896" y="52756"/>
                    <a:pt x="189023" y="48337"/>
                  </a:cubicBezTo>
                  <a:cubicBezTo>
                    <a:pt x="202149" y="43918"/>
                    <a:pt x="215713" y="39770"/>
                    <a:pt x="229715" y="35892"/>
                  </a:cubicBezTo>
                  <a:cubicBezTo>
                    <a:pt x="243717" y="32014"/>
                    <a:pt x="258375" y="28407"/>
                    <a:pt x="273252" y="25161"/>
                  </a:cubicBezTo>
                  <a:cubicBezTo>
                    <a:pt x="288128" y="21914"/>
                    <a:pt x="303443" y="18848"/>
                    <a:pt x="319195" y="16233"/>
                  </a:cubicBezTo>
                  <a:cubicBezTo>
                    <a:pt x="334947" y="13617"/>
                    <a:pt x="350698" y="11182"/>
                    <a:pt x="366888" y="9198"/>
                  </a:cubicBezTo>
                  <a:cubicBezTo>
                    <a:pt x="383077" y="7214"/>
                    <a:pt x="399485" y="5411"/>
                    <a:pt x="416112" y="4058"/>
                  </a:cubicBezTo>
                  <a:cubicBezTo>
                    <a:pt x="432740" y="2705"/>
                    <a:pt x="449367" y="1713"/>
                    <a:pt x="466212" y="992"/>
                  </a:cubicBezTo>
                  <a:cubicBezTo>
                    <a:pt x="483058" y="271"/>
                    <a:pt x="499904" y="0"/>
                    <a:pt x="516750" y="0"/>
                  </a:cubicBezTo>
                  <a:cubicBezTo>
                    <a:pt x="533595" y="0"/>
                    <a:pt x="550660" y="361"/>
                    <a:pt x="567506" y="992"/>
                  </a:cubicBezTo>
                  <a:cubicBezTo>
                    <a:pt x="584351" y="1623"/>
                    <a:pt x="600978" y="2705"/>
                    <a:pt x="617605" y="4058"/>
                  </a:cubicBezTo>
                  <a:cubicBezTo>
                    <a:pt x="634233" y="5411"/>
                    <a:pt x="650641" y="7124"/>
                    <a:pt x="666830" y="9108"/>
                  </a:cubicBezTo>
                  <a:cubicBezTo>
                    <a:pt x="683020" y="11092"/>
                    <a:pt x="698990" y="13437"/>
                    <a:pt x="714523" y="16142"/>
                  </a:cubicBezTo>
                  <a:cubicBezTo>
                    <a:pt x="730057" y="18848"/>
                    <a:pt x="745371" y="21824"/>
                    <a:pt x="760466" y="25070"/>
                  </a:cubicBezTo>
                  <a:cubicBezTo>
                    <a:pt x="775562" y="28317"/>
                    <a:pt x="790001" y="31924"/>
                    <a:pt x="804003" y="35802"/>
                  </a:cubicBezTo>
                  <a:cubicBezTo>
                    <a:pt x="818005" y="39680"/>
                    <a:pt x="831569" y="43828"/>
                    <a:pt x="844695" y="48247"/>
                  </a:cubicBezTo>
                  <a:cubicBezTo>
                    <a:pt x="857822" y="52666"/>
                    <a:pt x="870292" y="57355"/>
                    <a:pt x="882325" y="62315"/>
                  </a:cubicBezTo>
                  <a:cubicBezTo>
                    <a:pt x="894358" y="67275"/>
                    <a:pt x="905734" y="72415"/>
                    <a:pt x="916454" y="77826"/>
                  </a:cubicBezTo>
                  <a:cubicBezTo>
                    <a:pt x="927174" y="83237"/>
                    <a:pt x="937238" y="88828"/>
                    <a:pt x="946645" y="94600"/>
                  </a:cubicBezTo>
                  <a:cubicBezTo>
                    <a:pt x="956052" y="100372"/>
                    <a:pt x="964804" y="106414"/>
                    <a:pt x="972679" y="112546"/>
                  </a:cubicBezTo>
                  <a:cubicBezTo>
                    <a:pt x="980555" y="118678"/>
                    <a:pt x="987994" y="124991"/>
                    <a:pt x="994338" y="131484"/>
                  </a:cubicBezTo>
                  <a:cubicBezTo>
                    <a:pt x="1000683" y="137977"/>
                    <a:pt x="1006590" y="144470"/>
                    <a:pt x="1011403" y="151144"/>
                  </a:cubicBezTo>
                  <a:cubicBezTo>
                    <a:pt x="1016216" y="157817"/>
                    <a:pt x="1020373" y="164581"/>
                    <a:pt x="1023654" y="171434"/>
                  </a:cubicBezTo>
                  <a:cubicBezTo>
                    <a:pt x="1026936" y="178288"/>
                    <a:pt x="1029342" y="185142"/>
                    <a:pt x="1031093" y="192086"/>
                  </a:cubicBezTo>
                  <a:cubicBezTo>
                    <a:pt x="1032843" y="199030"/>
                    <a:pt x="1033499" y="205974"/>
                    <a:pt x="1033499" y="213008"/>
                  </a:cubicBezTo>
                  <a:lnTo>
                    <a:pt x="1033499" y="957002"/>
                  </a:lnTo>
                  <a:cubicBezTo>
                    <a:pt x="1033499" y="963946"/>
                    <a:pt x="1032624" y="970980"/>
                    <a:pt x="1031093" y="977924"/>
                  </a:cubicBezTo>
                  <a:cubicBezTo>
                    <a:pt x="1029561" y="984868"/>
                    <a:pt x="1026936" y="991722"/>
                    <a:pt x="1023654" y="998576"/>
                  </a:cubicBezTo>
                  <a:cubicBezTo>
                    <a:pt x="1020373" y="1005430"/>
                    <a:pt x="1016216" y="1012193"/>
                    <a:pt x="1011403" y="1018867"/>
                  </a:cubicBezTo>
                  <a:cubicBezTo>
                    <a:pt x="1006590" y="1025540"/>
                    <a:pt x="1000902" y="1032123"/>
                    <a:pt x="994338" y="1038526"/>
                  </a:cubicBezTo>
                  <a:cubicBezTo>
                    <a:pt x="987775" y="1044929"/>
                    <a:pt x="980555" y="1051242"/>
                    <a:pt x="972679" y="1057464"/>
                  </a:cubicBezTo>
                  <a:cubicBezTo>
                    <a:pt x="964804" y="1063687"/>
                    <a:pt x="956052" y="1069638"/>
                    <a:pt x="946645" y="1075410"/>
                  </a:cubicBezTo>
                  <a:cubicBezTo>
                    <a:pt x="937238" y="1081182"/>
                    <a:pt x="927174" y="1086773"/>
                    <a:pt x="916454" y="1092184"/>
                  </a:cubicBezTo>
                  <a:cubicBezTo>
                    <a:pt x="905734" y="1097595"/>
                    <a:pt x="894358" y="1102735"/>
                    <a:pt x="882325" y="1107695"/>
                  </a:cubicBezTo>
                  <a:cubicBezTo>
                    <a:pt x="870292" y="1112655"/>
                    <a:pt x="857822" y="1117344"/>
                    <a:pt x="844695" y="1121763"/>
                  </a:cubicBezTo>
                  <a:cubicBezTo>
                    <a:pt x="831569" y="1126182"/>
                    <a:pt x="818005" y="1130330"/>
                    <a:pt x="804003" y="1134208"/>
                  </a:cubicBezTo>
                  <a:cubicBezTo>
                    <a:pt x="790001" y="1138086"/>
                    <a:pt x="775343" y="1141693"/>
                    <a:pt x="760466" y="1144940"/>
                  </a:cubicBezTo>
                  <a:cubicBezTo>
                    <a:pt x="745590" y="1148186"/>
                    <a:pt x="730275" y="1151253"/>
                    <a:pt x="714523" y="1153868"/>
                  </a:cubicBezTo>
                  <a:cubicBezTo>
                    <a:pt x="698771" y="1156483"/>
                    <a:pt x="683020" y="1158918"/>
                    <a:pt x="666830" y="1160902"/>
                  </a:cubicBezTo>
                  <a:cubicBezTo>
                    <a:pt x="650641" y="1162886"/>
                    <a:pt x="634233" y="1164599"/>
                    <a:pt x="617605" y="1165952"/>
                  </a:cubicBezTo>
                  <a:cubicBezTo>
                    <a:pt x="600978" y="1167305"/>
                    <a:pt x="584351" y="1168297"/>
                    <a:pt x="567506" y="1169018"/>
                  </a:cubicBezTo>
                  <a:cubicBezTo>
                    <a:pt x="550660" y="1169740"/>
                    <a:pt x="533814" y="1170010"/>
                    <a:pt x="516750" y="1170010"/>
                  </a:cubicBezTo>
                  <a:cubicBezTo>
                    <a:pt x="499685" y="1170010"/>
                    <a:pt x="482839" y="1169649"/>
                    <a:pt x="465994" y="1169018"/>
                  </a:cubicBezTo>
                  <a:cubicBezTo>
                    <a:pt x="449148" y="1168387"/>
                    <a:pt x="432521" y="1167305"/>
                    <a:pt x="415894" y="1165952"/>
                  </a:cubicBezTo>
                  <a:cubicBezTo>
                    <a:pt x="399267" y="1164599"/>
                    <a:pt x="382859" y="1162886"/>
                    <a:pt x="366669" y="1160902"/>
                  </a:cubicBezTo>
                  <a:cubicBezTo>
                    <a:pt x="350480" y="1158918"/>
                    <a:pt x="334509" y="1156573"/>
                    <a:pt x="318976" y="1153868"/>
                  </a:cubicBezTo>
                  <a:cubicBezTo>
                    <a:pt x="303443" y="1151162"/>
                    <a:pt x="288128" y="1148186"/>
                    <a:pt x="273033" y="1144940"/>
                  </a:cubicBezTo>
                  <a:cubicBezTo>
                    <a:pt x="257937" y="1141693"/>
                    <a:pt x="243498" y="1138086"/>
                    <a:pt x="229496" y="1134208"/>
                  </a:cubicBezTo>
                  <a:cubicBezTo>
                    <a:pt x="215495" y="1130330"/>
                    <a:pt x="201931" y="1126182"/>
                    <a:pt x="188804" y="1121763"/>
                  </a:cubicBezTo>
                  <a:cubicBezTo>
                    <a:pt x="175677" y="1117344"/>
                    <a:pt x="163207" y="1112655"/>
                    <a:pt x="151174" y="1107695"/>
                  </a:cubicBezTo>
                  <a:cubicBezTo>
                    <a:pt x="139142" y="1102735"/>
                    <a:pt x="127765" y="1097595"/>
                    <a:pt x="117045" y="1092184"/>
                  </a:cubicBezTo>
                  <a:cubicBezTo>
                    <a:pt x="106325" y="1086773"/>
                    <a:pt x="96262" y="1081182"/>
                    <a:pt x="86854" y="1075410"/>
                  </a:cubicBezTo>
                  <a:cubicBezTo>
                    <a:pt x="77447" y="1069638"/>
                    <a:pt x="68696" y="1063596"/>
                    <a:pt x="60820" y="1057464"/>
                  </a:cubicBezTo>
                  <a:cubicBezTo>
                    <a:pt x="52944" y="1051332"/>
                    <a:pt x="45505" y="1045019"/>
                    <a:pt x="39161" y="1038526"/>
                  </a:cubicBezTo>
                  <a:cubicBezTo>
                    <a:pt x="32816" y="1032033"/>
                    <a:pt x="26910" y="1025540"/>
                    <a:pt x="22096" y="1018867"/>
                  </a:cubicBezTo>
                  <a:cubicBezTo>
                    <a:pt x="17283" y="1012193"/>
                    <a:pt x="13127" y="1005430"/>
                    <a:pt x="9845" y="998576"/>
                  </a:cubicBezTo>
                  <a:cubicBezTo>
                    <a:pt x="6563" y="991722"/>
                    <a:pt x="4157" y="984868"/>
                    <a:pt x="2407" y="977924"/>
                  </a:cubicBezTo>
                  <a:cubicBezTo>
                    <a:pt x="656" y="970980"/>
                    <a:pt x="0" y="964036"/>
                    <a:pt x="0" y="957002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235103" y="6429483"/>
            <a:ext cx="10991133" cy="20468"/>
            <a:chOff x="0" y="0"/>
            <a:chExt cx="10229850" cy="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29850" cy="19050"/>
            </a:xfrm>
            <a:custGeom>
              <a:avLst/>
              <a:gdLst/>
              <a:ahLst/>
              <a:cxnLst/>
              <a:rect l="l" t="t" r="r" b="b"/>
              <a:pathLst>
                <a:path w="10229850" h="1905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10220325" y="0"/>
                  </a:lnTo>
                  <a:cubicBezTo>
                    <a:pt x="10222992" y="0"/>
                    <a:pt x="10225151" y="889"/>
                    <a:pt x="10227056" y="2794"/>
                  </a:cubicBezTo>
                  <a:cubicBezTo>
                    <a:pt x="10228961" y="4699"/>
                    <a:pt x="10229850" y="6858"/>
                    <a:pt x="10229850" y="9525"/>
                  </a:cubicBezTo>
                  <a:cubicBezTo>
                    <a:pt x="10229850" y="12192"/>
                    <a:pt x="10228961" y="14351"/>
                    <a:pt x="10227056" y="16256"/>
                  </a:cubicBezTo>
                  <a:cubicBezTo>
                    <a:pt x="10225151" y="18161"/>
                    <a:pt x="10222992" y="19050"/>
                    <a:pt x="1022032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405449">
                <a:alpha val="25098"/>
              </a:srgbClr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4819292" y="2149477"/>
            <a:ext cx="3045875" cy="3031530"/>
          </a:xfrm>
          <a:custGeom>
            <a:avLst/>
            <a:gdLst/>
            <a:ahLst/>
            <a:cxnLst/>
            <a:rect l="l" t="t" r="r" b="b"/>
            <a:pathLst>
              <a:path w="3045875" h="3031530">
                <a:moveTo>
                  <a:pt x="0" y="0"/>
                </a:moveTo>
                <a:lnTo>
                  <a:pt x="3045875" y="0"/>
                </a:lnTo>
                <a:lnTo>
                  <a:pt x="3045875" y="3031530"/>
                </a:lnTo>
                <a:lnTo>
                  <a:pt x="0" y="30315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1086" y="1159794"/>
            <a:ext cx="5285314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3B4540"/>
                </a:solidFill>
                <a:latin typeface="Fraunces Bold"/>
                <a:ea typeface="Fraunces Bold"/>
                <a:cs typeface="Fraunces Bold"/>
                <a:sym typeface="Fraunces Bold"/>
              </a:rPr>
              <a:t>Prototype &amp; Future Scope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7699" y="4661852"/>
            <a:ext cx="1000037" cy="145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lang="en-US" sz="795" b="1" spc="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4" tooltip="https://github.com/Rushank2106/Samvid"/>
              </a:rPr>
              <a:t>View Source Code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9393" y="4640459"/>
            <a:ext cx="727591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25">
                <a:solidFill>
                  <a:srgbClr val="438951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5" tooltip="https://gamma.app/docs/screenshot"/>
              </a:rPr>
              <a:t>QR code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7770" y="1845352"/>
            <a:ext cx="4320338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8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Prototype highlights: onboarding form, profile dashboard, scheme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086" y="2239094"/>
            <a:ext cx="3208740" cy="703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04"/>
              </a:lnSpc>
            </a:pPr>
            <a:r>
              <a:rPr lang="en-US" sz="1200" spc="18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recommendation cards with plain-language summaries, and step-by-step benefit guidance.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7770" y="3032834"/>
            <a:ext cx="4240047" cy="1393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15"/>
              </a:lnSpc>
            </a:pPr>
            <a:r>
              <a:rPr lang="en-US" sz="1332" spc="19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Example workflow: Sign up → Enter basic details → View matched schemes → Read benefits → Follow enrolment steps</a:t>
            </a:r>
          </a:p>
          <a:p>
            <a:pPr algn="just">
              <a:lnSpc>
                <a:spcPts val="2538"/>
              </a:lnSpc>
            </a:pPr>
            <a:r>
              <a:rPr lang="en-US" sz="1332" spc="27">
                <a:solidFill>
                  <a:srgbClr val="405449"/>
                </a:solidFill>
                <a:latin typeface="Montserrat"/>
                <a:ea typeface="Montserrat"/>
                <a:cs typeface="Montserrat"/>
                <a:sym typeface="Montserrat"/>
              </a:rPr>
              <a:t>Repository(source):</a:t>
            </a:r>
            <a:r>
              <a:rPr lang="en-US" sz="1332" b="1" spc="27">
                <a:solidFill>
                  <a:srgbClr val="438951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4" tooltip="https://github.com/Rushank2106/Samvid"/>
              </a:rPr>
              <a:t>https://github.com/Rushank2106/Samvid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23150" y="6544330"/>
            <a:ext cx="19837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25">
                <a:solidFill>
                  <a:srgbClr val="40544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 — Questions?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55344" y="3763611"/>
            <a:ext cx="1885342" cy="1417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4"/>
              </a:lnSpc>
            </a:pPr>
            <a:r>
              <a:rPr lang="en-US" sz="1200" spc="18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Extend data ingestion pipelines, pilot in a target region, run user testing with underserved communities, and iterate recommendation logic.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68744" y="2011087"/>
            <a:ext cx="2210506" cy="1176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3"/>
              </a:lnSpc>
            </a:pPr>
            <a:r>
              <a:rPr lang="en-US" sz="1200" spc="18">
                <a:solidFill>
                  <a:srgbClr val="405449"/>
                </a:solidFill>
                <a:latin typeface="Open Sans"/>
                <a:ea typeface="Open Sans"/>
                <a:cs typeface="Open Sans"/>
                <a:sym typeface="Open Sans"/>
              </a:rPr>
              <a:t>More comprehensive scheme DB, multilingual support, voice interaction, verified API integrations, mobile app, and improved personalization.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64821" y="3771365"/>
            <a:ext cx="130720" cy="231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379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55344" y="3559506"/>
            <a:ext cx="927322" cy="20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8"/>
              </a:lnSpc>
            </a:pPr>
            <a:r>
              <a:rPr lang="en-US" sz="122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Next steps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86676" y="1746807"/>
            <a:ext cx="1154250" cy="20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8"/>
              </a:lnSpc>
            </a:pPr>
            <a:r>
              <a:rPr lang="en-US" sz="1220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Future scope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8053311" y="1775382"/>
            <a:ext cx="553739" cy="626796"/>
            <a:chOff x="0" y="0"/>
            <a:chExt cx="1033718" cy="1170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33499" cy="1170010"/>
            </a:xfrm>
            <a:custGeom>
              <a:avLst/>
              <a:gdLst/>
              <a:ahLst/>
              <a:cxnLst/>
              <a:rect l="l" t="t" r="r" b="b"/>
              <a:pathLst>
                <a:path w="1033499" h="1170010">
                  <a:moveTo>
                    <a:pt x="0" y="957002"/>
                  </a:moveTo>
                  <a:lnTo>
                    <a:pt x="0" y="213008"/>
                  </a:lnTo>
                  <a:cubicBezTo>
                    <a:pt x="0" y="206064"/>
                    <a:pt x="875" y="199030"/>
                    <a:pt x="2407" y="192086"/>
                  </a:cubicBezTo>
                  <a:cubicBezTo>
                    <a:pt x="3938" y="185142"/>
                    <a:pt x="6563" y="178288"/>
                    <a:pt x="9845" y="171434"/>
                  </a:cubicBezTo>
                  <a:cubicBezTo>
                    <a:pt x="13127" y="164581"/>
                    <a:pt x="17283" y="157817"/>
                    <a:pt x="22096" y="151144"/>
                  </a:cubicBezTo>
                  <a:cubicBezTo>
                    <a:pt x="26909" y="144470"/>
                    <a:pt x="32598" y="137887"/>
                    <a:pt x="39161" y="131484"/>
                  </a:cubicBezTo>
                  <a:cubicBezTo>
                    <a:pt x="45724" y="125081"/>
                    <a:pt x="52944" y="118769"/>
                    <a:pt x="60820" y="112546"/>
                  </a:cubicBezTo>
                  <a:cubicBezTo>
                    <a:pt x="68696" y="106324"/>
                    <a:pt x="77447" y="100372"/>
                    <a:pt x="86854" y="94600"/>
                  </a:cubicBezTo>
                  <a:cubicBezTo>
                    <a:pt x="96262" y="88828"/>
                    <a:pt x="106325" y="83237"/>
                    <a:pt x="117045" y="77826"/>
                  </a:cubicBezTo>
                  <a:cubicBezTo>
                    <a:pt x="127765" y="72415"/>
                    <a:pt x="139360" y="67365"/>
                    <a:pt x="151393" y="62405"/>
                  </a:cubicBezTo>
                  <a:cubicBezTo>
                    <a:pt x="163426" y="57445"/>
                    <a:pt x="175896" y="52756"/>
                    <a:pt x="189023" y="48337"/>
                  </a:cubicBezTo>
                  <a:cubicBezTo>
                    <a:pt x="202149" y="43918"/>
                    <a:pt x="215713" y="39770"/>
                    <a:pt x="229715" y="35892"/>
                  </a:cubicBezTo>
                  <a:cubicBezTo>
                    <a:pt x="243717" y="32014"/>
                    <a:pt x="258375" y="28407"/>
                    <a:pt x="273252" y="25161"/>
                  </a:cubicBezTo>
                  <a:cubicBezTo>
                    <a:pt x="288128" y="21914"/>
                    <a:pt x="303443" y="18848"/>
                    <a:pt x="319195" y="16233"/>
                  </a:cubicBezTo>
                  <a:cubicBezTo>
                    <a:pt x="334947" y="13617"/>
                    <a:pt x="350698" y="11182"/>
                    <a:pt x="366888" y="9198"/>
                  </a:cubicBezTo>
                  <a:cubicBezTo>
                    <a:pt x="383077" y="7214"/>
                    <a:pt x="399485" y="5411"/>
                    <a:pt x="416112" y="4058"/>
                  </a:cubicBezTo>
                  <a:cubicBezTo>
                    <a:pt x="432740" y="2705"/>
                    <a:pt x="449367" y="1713"/>
                    <a:pt x="466212" y="992"/>
                  </a:cubicBezTo>
                  <a:cubicBezTo>
                    <a:pt x="483058" y="271"/>
                    <a:pt x="499904" y="0"/>
                    <a:pt x="516750" y="0"/>
                  </a:cubicBezTo>
                  <a:cubicBezTo>
                    <a:pt x="533595" y="0"/>
                    <a:pt x="550660" y="361"/>
                    <a:pt x="567506" y="992"/>
                  </a:cubicBezTo>
                  <a:cubicBezTo>
                    <a:pt x="584351" y="1623"/>
                    <a:pt x="600978" y="2705"/>
                    <a:pt x="617605" y="4058"/>
                  </a:cubicBezTo>
                  <a:cubicBezTo>
                    <a:pt x="634233" y="5411"/>
                    <a:pt x="650641" y="7124"/>
                    <a:pt x="666830" y="9108"/>
                  </a:cubicBezTo>
                  <a:cubicBezTo>
                    <a:pt x="683020" y="11092"/>
                    <a:pt x="698990" y="13437"/>
                    <a:pt x="714523" y="16142"/>
                  </a:cubicBezTo>
                  <a:cubicBezTo>
                    <a:pt x="730057" y="18848"/>
                    <a:pt x="745371" y="21824"/>
                    <a:pt x="760466" y="25070"/>
                  </a:cubicBezTo>
                  <a:cubicBezTo>
                    <a:pt x="775562" y="28317"/>
                    <a:pt x="790001" y="31924"/>
                    <a:pt x="804003" y="35802"/>
                  </a:cubicBezTo>
                  <a:cubicBezTo>
                    <a:pt x="818005" y="39680"/>
                    <a:pt x="831569" y="43828"/>
                    <a:pt x="844695" y="48247"/>
                  </a:cubicBezTo>
                  <a:cubicBezTo>
                    <a:pt x="857822" y="52666"/>
                    <a:pt x="870292" y="57355"/>
                    <a:pt x="882325" y="62315"/>
                  </a:cubicBezTo>
                  <a:cubicBezTo>
                    <a:pt x="894358" y="67275"/>
                    <a:pt x="905734" y="72415"/>
                    <a:pt x="916454" y="77826"/>
                  </a:cubicBezTo>
                  <a:cubicBezTo>
                    <a:pt x="927174" y="83237"/>
                    <a:pt x="937238" y="88828"/>
                    <a:pt x="946645" y="94600"/>
                  </a:cubicBezTo>
                  <a:cubicBezTo>
                    <a:pt x="956052" y="100372"/>
                    <a:pt x="964804" y="106414"/>
                    <a:pt x="972679" y="112546"/>
                  </a:cubicBezTo>
                  <a:cubicBezTo>
                    <a:pt x="980555" y="118678"/>
                    <a:pt x="987994" y="124991"/>
                    <a:pt x="994338" y="131484"/>
                  </a:cubicBezTo>
                  <a:cubicBezTo>
                    <a:pt x="1000683" y="137977"/>
                    <a:pt x="1006590" y="144470"/>
                    <a:pt x="1011403" y="151144"/>
                  </a:cubicBezTo>
                  <a:cubicBezTo>
                    <a:pt x="1016216" y="157817"/>
                    <a:pt x="1020373" y="164581"/>
                    <a:pt x="1023654" y="171434"/>
                  </a:cubicBezTo>
                  <a:cubicBezTo>
                    <a:pt x="1026936" y="178288"/>
                    <a:pt x="1029342" y="185142"/>
                    <a:pt x="1031093" y="192086"/>
                  </a:cubicBezTo>
                  <a:cubicBezTo>
                    <a:pt x="1032843" y="199030"/>
                    <a:pt x="1033499" y="205974"/>
                    <a:pt x="1033499" y="213008"/>
                  </a:cubicBezTo>
                  <a:lnTo>
                    <a:pt x="1033499" y="957002"/>
                  </a:lnTo>
                  <a:cubicBezTo>
                    <a:pt x="1033499" y="963946"/>
                    <a:pt x="1032624" y="970980"/>
                    <a:pt x="1031093" y="977924"/>
                  </a:cubicBezTo>
                  <a:cubicBezTo>
                    <a:pt x="1029561" y="984868"/>
                    <a:pt x="1026936" y="991722"/>
                    <a:pt x="1023654" y="998576"/>
                  </a:cubicBezTo>
                  <a:cubicBezTo>
                    <a:pt x="1020373" y="1005430"/>
                    <a:pt x="1016216" y="1012193"/>
                    <a:pt x="1011403" y="1018867"/>
                  </a:cubicBezTo>
                  <a:cubicBezTo>
                    <a:pt x="1006590" y="1025540"/>
                    <a:pt x="1000902" y="1032123"/>
                    <a:pt x="994338" y="1038526"/>
                  </a:cubicBezTo>
                  <a:cubicBezTo>
                    <a:pt x="987775" y="1044929"/>
                    <a:pt x="980555" y="1051242"/>
                    <a:pt x="972679" y="1057464"/>
                  </a:cubicBezTo>
                  <a:cubicBezTo>
                    <a:pt x="964804" y="1063687"/>
                    <a:pt x="956052" y="1069638"/>
                    <a:pt x="946645" y="1075410"/>
                  </a:cubicBezTo>
                  <a:cubicBezTo>
                    <a:pt x="937238" y="1081182"/>
                    <a:pt x="927174" y="1086773"/>
                    <a:pt x="916454" y="1092184"/>
                  </a:cubicBezTo>
                  <a:cubicBezTo>
                    <a:pt x="905734" y="1097595"/>
                    <a:pt x="894358" y="1102735"/>
                    <a:pt x="882325" y="1107695"/>
                  </a:cubicBezTo>
                  <a:cubicBezTo>
                    <a:pt x="870292" y="1112655"/>
                    <a:pt x="857822" y="1117344"/>
                    <a:pt x="844695" y="1121763"/>
                  </a:cubicBezTo>
                  <a:cubicBezTo>
                    <a:pt x="831569" y="1126182"/>
                    <a:pt x="818005" y="1130330"/>
                    <a:pt x="804003" y="1134208"/>
                  </a:cubicBezTo>
                  <a:cubicBezTo>
                    <a:pt x="790001" y="1138086"/>
                    <a:pt x="775343" y="1141693"/>
                    <a:pt x="760466" y="1144940"/>
                  </a:cubicBezTo>
                  <a:cubicBezTo>
                    <a:pt x="745590" y="1148186"/>
                    <a:pt x="730275" y="1151253"/>
                    <a:pt x="714523" y="1153868"/>
                  </a:cubicBezTo>
                  <a:cubicBezTo>
                    <a:pt x="698771" y="1156483"/>
                    <a:pt x="683020" y="1158918"/>
                    <a:pt x="666830" y="1160902"/>
                  </a:cubicBezTo>
                  <a:cubicBezTo>
                    <a:pt x="650641" y="1162886"/>
                    <a:pt x="634233" y="1164599"/>
                    <a:pt x="617605" y="1165952"/>
                  </a:cubicBezTo>
                  <a:cubicBezTo>
                    <a:pt x="600978" y="1167305"/>
                    <a:pt x="584351" y="1168297"/>
                    <a:pt x="567506" y="1169018"/>
                  </a:cubicBezTo>
                  <a:cubicBezTo>
                    <a:pt x="550660" y="1169740"/>
                    <a:pt x="533814" y="1170010"/>
                    <a:pt x="516750" y="1170010"/>
                  </a:cubicBezTo>
                  <a:cubicBezTo>
                    <a:pt x="499685" y="1170010"/>
                    <a:pt x="482839" y="1169649"/>
                    <a:pt x="465994" y="1169018"/>
                  </a:cubicBezTo>
                  <a:cubicBezTo>
                    <a:pt x="449148" y="1168387"/>
                    <a:pt x="432521" y="1167305"/>
                    <a:pt x="415894" y="1165952"/>
                  </a:cubicBezTo>
                  <a:cubicBezTo>
                    <a:pt x="399267" y="1164599"/>
                    <a:pt x="382859" y="1162886"/>
                    <a:pt x="366669" y="1160902"/>
                  </a:cubicBezTo>
                  <a:cubicBezTo>
                    <a:pt x="350480" y="1158918"/>
                    <a:pt x="334509" y="1156573"/>
                    <a:pt x="318976" y="1153868"/>
                  </a:cubicBezTo>
                  <a:cubicBezTo>
                    <a:pt x="303443" y="1151162"/>
                    <a:pt x="288128" y="1148186"/>
                    <a:pt x="273033" y="1144940"/>
                  </a:cubicBezTo>
                  <a:cubicBezTo>
                    <a:pt x="257937" y="1141693"/>
                    <a:pt x="243498" y="1138086"/>
                    <a:pt x="229496" y="1134208"/>
                  </a:cubicBezTo>
                  <a:cubicBezTo>
                    <a:pt x="215495" y="1130330"/>
                    <a:pt x="201931" y="1126182"/>
                    <a:pt x="188804" y="1121763"/>
                  </a:cubicBezTo>
                  <a:cubicBezTo>
                    <a:pt x="175677" y="1117344"/>
                    <a:pt x="163207" y="1112655"/>
                    <a:pt x="151174" y="1107695"/>
                  </a:cubicBezTo>
                  <a:cubicBezTo>
                    <a:pt x="139142" y="1102735"/>
                    <a:pt x="127765" y="1097595"/>
                    <a:pt x="117045" y="1092184"/>
                  </a:cubicBezTo>
                  <a:cubicBezTo>
                    <a:pt x="106325" y="1086773"/>
                    <a:pt x="96262" y="1081182"/>
                    <a:pt x="86854" y="1075410"/>
                  </a:cubicBezTo>
                  <a:cubicBezTo>
                    <a:pt x="77447" y="1069638"/>
                    <a:pt x="68696" y="1063596"/>
                    <a:pt x="60820" y="1057464"/>
                  </a:cubicBezTo>
                  <a:cubicBezTo>
                    <a:pt x="52944" y="1051332"/>
                    <a:pt x="45505" y="1045019"/>
                    <a:pt x="39161" y="1038526"/>
                  </a:cubicBezTo>
                  <a:cubicBezTo>
                    <a:pt x="32816" y="1032033"/>
                    <a:pt x="26910" y="1025540"/>
                    <a:pt x="22096" y="1018867"/>
                  </a:cubicBezTo>
                  <a:cubicBezTo>
                    <a:pt x="17283" y="1012193"/>
                    <a:pt x="13127" y="1005430"/>
                    <a:pt x="9845" y="998576"/>
                  </a:cubicBezTo>
                  <a:cubicBezTo>
                    <a:pt x="6563" y="991722"/>
                    <a:pt x="4157" y="984868"/>
                    <a:pt x="2407" y="977924"/>
                  </a:cubicBezTo>
                  <a:cubicBezTo>
                    <a:pt x="656" y="970980"/>
                    <a:pt x="0" y="964036"/>
                    <a:pt x="0" y="957002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8264821" y="1958666"/>
            <a:ext cx="130720" cy="231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379" b="1">
                <a:solidFill>
                  <a:srgbClr val="405449"/>
                </a:solidFill>
                <a:latin typeface="Fraunces Bold"/>
                <a:ea typeface="Fraunces Bold"/>
                <a:cs typeface="Fraunces Bold"/>
                <a:sym typeface="Fraunces Bold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605</Words>
  <Application>Microsoft Office PowerPoint</Application>
  <PresentationFormat>Custom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Open Sans Bold</vt:lpstr>
      <vt:lpstr>Calibri</vt:lpstr>
      <vt:lpstr>Montserrat Bold</vt:lpstr>
      <vt:lpstr>Fraunces Bold</vt:lpstr>
      <vt:lpstr>Open Sans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SAMVIDA</dc:title>
  <cp:lastModifiedBy>kashinathchavan1908@gmail.com</cp:lastModifiedBy>
  <cp:revision>3</cp:revision>
  <dcterms:created xsi:type="dcterms:W3CDTF">2006-08-16T00:00:00Z</dcterms:created>
  <dcterms:modified xsi:type="dcterms:W3CDTF">2026-09-13T07:16:30Z</dcterms:modified>
  <dc:identifier>DAHVDY0CvpQ</dc:identifier>
</cp:coreProperties>
</file>